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2000" cy="6858000"/>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slide" Target="slides/slide2.xml"/>
<Relationship Id="rId10" Type="http://schemas.openxmlformats.org/officeDocument/2006/relationships/slide" Target="slides/slide3.xml"/>
<Relationship Id="rId11" Type="http://schemas.openxmlformats.org/officeDocument/2006/relationships/slide" Target="slides/slide4.xml"/>
<Relationship Id="rId12" Type="http://schemas.openxmlformats.org/officeDocument/2006/relationships/slide" Target="slides/slide5.xml"/>
<Relationship Id="rId13" Type="http://schemas.openxmlformats.org/officeDocument/2006/relationships/slide" Target="slides/slide6.xml"/>
<Relationship Id="rId14" Type="http://schemas.openxmlformats.org/officeDocument/2006/relationships/slide" Target="slides/slide7.xml"/>
<Relationship Id="rId15" Type="http://schemas.openxmlformats.org/officeDocument/2006/relationships/slide" Target="slides/slide8.xml"/>
<Relationship Id="rId16" Type="http://schemas.openxmlformats.org/officeDocument/2006/relationships/slide" Target="slides/slide9.xml"/>
<Relationship Id="rId17" Type="http://schemas.openxmlformats.org/officeDocument/2006/relationships/slide" Target="slides/slide10.xml"/>
<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 Id="rId26" Type="http://schemas.openxmlformats.org/officeDocument/2006/relationships/slide" Target="slides/slide19.xml"/>
<Relationship Id="rId27" Type="http://schemas.openxmlformats.org/officeDocument/2006/relationships/slide" Target="slides/slide20.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 Id="rId31" Type="http://schemas.openxmlformats.org/officeDocument/2006/relationships/slide" Target="slides/slide24.xml"/>
<Relationship Id="rId32" Type="http://schemas.openxmlformats.org/officeDocument/2006/relationships/slide" Target="slides/slide25.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40" Type="http://schemas.openxmlformats.org/officeDocument/2006/relationships/slide" Target="slides/slide33.xml"/>
<Relationship Id="rId41" Type="http://schemas.openxmlformats.org/officeDocument/2006/relationships/slide" Target="slides/slide34.xml"/>
<Relationship Id="rId42" Type="http://schemas.openxmlformats.org/officeDocument/2006/relationships/slide" Target="slides/slide35.xml"/>
<Relationship Id="rId43" Type="http://schemas.openxmlformats.org/officeDocument/2006/relationships/slide" Target="slides/slide36.xml"/>
<Relationship Id="rId44" Type="http://schemas.openxmlformats.org/officeDocument/2006/relationships/slide" Target="slides/slide37.xml"/>
<Relationship Id="rId45" Type="http://schemas.openxmlformats.org/officeDocument/2006/relationships/slide" Target="slides/slide38.xml"/>
<Relationship Id="rId46" Type="http://schemas.openxmlformats.org/officeDocument/2006/relationships/slide" Target="slides/slide39.xml"/>
<Relationship Id="rId47" Type="http://schemas.openxmlformats.org/officeDocument/2006/relationships/slide" Target="slides/slide40.xml"/>
<Relationship Id="rId48" Type="http://schemas.openxmlformats.org/officeDocument/2006/relationships/slide" Target="slides/slide41.xml"/>
<Relationship Id="rId49" Type="http://schemas.openxmlformats.org/officeDocument/2006/relationships/slide" Target="slides/slide42.xml"/>
<Relationship Id="rId50" Type="http://schemas.openxmlformats.org/officeDocument/2006/relationships/slide" Target="slides/slide43.xml"/>
<Relationship Id="rId51" Type="http://schemas.openxmlformats.org/officeDocument/2006/relationships/slide" Target="slides/slide44.xml"/>
<Relationship Id="rId52" Type="http://schemas.openxmlformats.org/officeDocument/2006/relationships/slide" Target="slides/slide45.xml"/>
<Relationship Id="rId53" Type="http://schemas.openxmlformats.org/officeDocument/2006/relationships/slide" Target="slides/slide46.xml"/>
<Relationship Id="rId54" Type="http://schemas.openxmlformats.org/officeDocument/2006/relationships/slide" Target="slides/slide47.xml"/>
<Relationship Id="rId55" Type="http://schemas.openxmlformats.org/officeDocument/2006/relationships/slide" Target="slides/slide48.xml"/>
<Relationship Id="rId56" Type="http://schemas.openxmlformats.org/officeDocument/2006/relationships/slide" Target="slides/slide49.xml"/>
<Relationship Id="rId57" Type="http://schemas.openxmlformats.org/officeDocument/2006/relationships/slide" Target="slides/slide50.xml"/>
<Relationship Id="rId58" Type="http://schemas.openxmlformats.org/officeDocument/2006/relationships/slide" Target="slides/slide51.xml"/>
<Relationship Id="rId59" Type="http://schemas.openxmlformats.org/officeDocument/2006/relationships/slide" Target="slides/slide52.xml"/>
<Relationship Id="rId60" Type="http://schemas.openxmlformats.org/officeDocument/2006/relationships/slide" Target="slides/slide53.xml"/>
<Relationship Id="rId61" Type="http://schemas.openxmlformats.org/officeDocument/2006/relationships/slide" Target="slides/slide54.xml"/>
<Relationship Id="rId62" Type="http://schemas.openxmlformats.org/officeDocument/2006/relationships/slide" Target="slides/slide55.xml"/>
<Relationship Id="rId63" Type="http://schemas.openxmlformats.org/officeDocument/2006/relationships/slide" Target="slides/slide56.xml"/>
<Relationship Id="rId64" Type="http://schemas.openxmlformats.org/officeDocument/2006/relationships/slide" Target="slides/slide57.xml"/>
<Relationship Id="rId65" Type="http://schemas.openxmlformats.org/officeDocument/2006/relationships/slide" Target="slides/slide58.xml"/>
<Relationship Id="rId66" Type="http://schemas.openxmlformats.org/officeDocument/2006/relationships/slide" Target="slides/slide59.xml"/>
<Relationship Id="rId67" Type="http://schemas.openxmlformats.org/officeDocument/2006/relationships/slide" Target="slides/slide60.xml"/>
<Relationship Id="rId68" Type="http://schemas.openxmlformats.org/officeDocument/2006/relationships/slide" Target="slides/slide61.xml"/>
<Relationship Id="rId69" Type="http://schemas.openxmlformats.org/officeDocument/2006/relationships/slide" Target="slides/slide62.xml"/>
<Relationship Id="rId70" Type="http://schemas.openxmlformats.org/officeDocument/2006/relationships/slide" Target="slides/slide6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573012e70daf38eb4f89f8d03e1e4c92af95e60.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2dd6d5f36ad14cf6c1f252986113785d2f12a64.png"/>
<Relationship Id="rId3" Type="http://schemas.openxmlformats.org/officeDocument/2006/relationships/image" Target="../media/ff2bba9e53d6a7a9ebb7ec39cfba86d3555dcf27.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0eb3fbaca0dcb270a8a3b891156cdf73cde0b13.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05b75e78ec7e3149bfe184b2f210f970c865cfa.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e069c204ba92ea3f91e10071007dc2ff92089bd.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92fd2eb27145440e90b456d6b1b40a9724d2465f.png"/>
<Relationship Id="rId3" Type="http://schemas.openxmlformats.org/officeDocument/2006/relationships/image" Target="../media/37b18d043fb8122e36129db5386308444ad47f1e.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3eb6d0e3f4fc804a2b4f408553dcff059f3e312a.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74d8593be44834aa8e0b3a7650e6a8550f4ade7.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0bc55830c8eabf8f1b980914b32cb35f6e70a9c.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4e6dd03e24cf92f34565e891fd1b61b77ef2b476.png"/>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39281f27390b86b7a5b8f61ffde7db6c7f05c95c.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9cb310131acd399aeaf07e6d472dda0a9b2076bd.png"/>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9de0b6d93181467f08e1cf94869dc56cacf871fd.png"/>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1654f836239db3551d46fcafccf0436a529796c9.png"/>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0b7cc4156ff94847ba7e7516c7b1321df9533ab.png"/>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dd971ddd4019f1923706ee50edddef5020354dd.png"/>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989e7598488d3a1a7be7eadd51ec30ee4ea8a98d.png"/>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046ca12969fa9df16fbe1cd7e6b41c3b0fa6b0a3.png"/>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7a3a8e6fb53f9d3006a8ea278310c28b6a3d96e8.png"/>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028d8fbabbf6dbc1c6a3eb59ae614aa76a66f10d.png"/>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58d1d66669393a7c95381c1ed6a477bd1c62452.png"/>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062109281adac57389f9e250195970d4e8edaeb.png"/>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03e2ae1638776bbe9efe85541c4dba1c913a383.png"/>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8719bd6dddbc17fd1bcdafd6f6f0c2886ebac705.png"/>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9a99a8f9b36fa9c48b877666aac5a90af2bd41de.png"/>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1e74d8a5497ef88c5108356048eafe5b7faa975.png"/>
<Relationship Id="rId3" Type="http://schemas.openxmlformats.org/officeDocument/2006/relationships/image" Target="../media/4c90f14488831a84571c950299a8df13327ec654.png"/>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23091566a4968e699a9223c5e80aaa6a84e6ec0.png"/>
<Relationship Id="rId3" Type="http://schemas.openxmlformats.org/officeDocument/2006/relationships/image" Target="../media/970feb8ed9a77c6550b64ad0cb299edaf39015b0.png"/>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5ee7ad91442d900667d8759e820bfb3948152ac.png"/>
<Relationship Id="rId3" Type="http://schemas.openxmlformats.org/officeDocument/2006/relationships/image" Target="../media/776d3a42e2c28d479470fd7cb76d1a50ca519cf8.png"/>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5e42501b6f2f62d9127d2b19e32f56007079690.png"/>
<Relationship Id="rId3" Type="http://schemas.openxmlformats.org/officeDocument/2006/relationships/image" Target="../media/a9121665c09388f5a748d0a1f4841dbf80d7f90c.png"/>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ac5f19566d7afda0ce2556fee51398e28249ee0.png"/>
<Relationship Id="rId3" Type="http://schemas.openxmlformats.org/officeDocument/2006/relationships/image" Target="../media/0480d4cb7d42a1b82e0585d9b963a838259ff959.png"/>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7f30fe9266489331b10afdbfc93f8ecc1695a80.png"/>
<Relationship Id="rId3" Type="http://schemas.openxmlformats.org/officeDocument/2006/relationships/image" Target="../media/282f61f35882d16e47a01d3969d54aaccb00aeca.png"/>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f28cc92f7bf960633e4b7f38fd0b2e7dabd030ab.png"/>
<Relationship Id="rId3" Type="http://schemas.openxmlformats.org/officeDocument/2006/relationships/image" Target="../media/62a75d14e5b04ebd3a6b32387ac4e6d72a309b8b.png"/>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b3776026baaf2b0e2dffb72ecf88fd2926748730.png"/>
<Relationship Id="rId3" Type="http://schemas.openxmlformats.org/officeDocument/2006/relationships/image" Target="../media/73a2cccc53f14b2616884fd897aeb27efc6821dd.png"/>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DAILY SLIDE DECK</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North Carolina Drug Checking</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Generated Sunday, October 11, 2026 · 10:17 AM ET UNC Street Drug Analysis Lab · OpioidData.org · results.streetsafe.supply Download as PowerPoint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Orientation</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About This Slide Deck</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Rebuilt every night from the daily North Carolina extracts of the UNC drug checking datasets. Designed for public health officials and researchers — every figure names the exact variables behind it. Rates are per 1,000 unique samples completed per unit time; the month/current quarter is labeled partial. Charts state whether substance detections counts are in primary or trace abundance. All slides in this deck are made placed in public domain and available for public reuse without any additional permission. Nightly pipeline 1 Upstream CSVs refresh daily 2 Rscript r/build_nightly.R at 2:30 AM 3 ggplot2 figures + stats land in figs/ 4 This deck re-renders with fresh numbers Every figure and statistic is rebuilt from the live extract on each nightly run. r/build_nightly.R</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Every figure and statistic is rebuilt from the live extract on each nightly run.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Methods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How samples are collected and shipped, how the lab analyzes them, and how results become the two public datasets — the ground rules behind every chart that follows.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Orientation</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How Samples Reach the Lab</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alt="The UNC Street Drug Analysis Lab logo banner." style="width:1240px;align-self:center;margin:56px 0 40px"&gt; 1 · CollectResidue on a card with what the donor expected, felt, and saw 2 · MailAnonymous samples mailed from harm reduction programs statewide 3 · AnalyzeGCMS identifies each substance and flags primary vs. trace abundance 4 · PublishResults posted publicly and folded into these two datasets daily Sample-level records: results.streetsafe.supply/sample/&amp;lt;sampleid&amp;gt;</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Sample-level records: results.streetsafe.supply/sample/&amp;lt;sampleid&amp;gt;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Sample Collection: Core Principles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1 Voluntary Samples are provided voluntarily to a partnering organization — never collected covertly. 2 Anonymous Individual sample donors are anonymous to the UNC lab; no identifying information travels with a sample. 3 Donor gets results first Results must be returned to the sample donor in a timely manner — before any aggregate reporting. Who submits Health-serving organizations: harm reduction programs, drug user unions, public health agencies, and universities. How samples travel Collected as powders, pill fragments, swabs, or used cottons; dissolved in acetonitrile and shipped with a prepaid return envelope — under established harm reduction exemptions in state controlled-substance law and federal small-quantity hazardous-materials regulations. Collection and shipping protocol details in the Supplemental Material Static slide — reviewed by lab staff, not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Collection and shipping protocol details in the Supplemental Material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How Samples Are Analyzed</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1 Dissolve &amp; mail. Samples dissolved in acetonitrile and mailed to the lab in compliance with federal regulations. 2 Separate. Gas chromatography on a Thermo TraceGOLD TG-5SilMS column (30 m × 0.25 mm × 0.25 μm). 3 Detect. GCMS with an electron ionization source; qualitative results from a Thermo Scientific Q Exactive GC Orbitrap. 4 Identify. Untargeted search in Xcalibur Qual Browser 4.5, with fragmentation analysis against three libraries of drug standards. 5 Confirm. Every detected substance positively identified and confirmed with pure, commercially available reference standards. 6 Classify. Reported as primary or trace abundance — trace = less than 5% chromatogram peak height relative to the most abundant substance. Qualitative GCMS — abundance is not concentration · full protocol and library details in the Supplemental Material Static slide — reviewed by lab staff, not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Qualitative GCMS — abundance is not concentration · full protocol and library details in the Supplemental Material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Two Linked Datasets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analysis_dataset.csv Wide · one row per sample. Everything from the card — location, dates, expected substance, sensations, overdose involvement — plus ~60 derived lab_* 1/0 flags. 96 variables · quarterly denominators come from here data.streetsafe.supply/datasets/NC/analysis_dataset.csv sampleid ⟷ lab_detail.csv Long · one row per substance per sample. Standardized substance name, method (GCMS), abundance (blank = primary, "trace"), chemical-class flags, PubChem CID / CAS / UNII. Source for substance-level counts and new detections data.streetsafe.supply/datasets/NC/lab_detail.csv Direct downloads above · refreshed daily · also in Stata, Excel, SAS at data.streetsafe.supply/datasets/NC/ r/data.R::load_nc()</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Direct downloads above · refreshed daily · also in Stata, Excel, SAS at data.streetsafe.supply/datasets/NC/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Primary vs. Trace: How to Read the Variables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lab_xylazine = 1 Detected as a primary constituent lab_xylazine_any = 1 Detected in any abundance — primary or trace trace-only = any − primary The light-blue increment stacked on every chart Example sample A powder sample contains xylazine in trace abundance: lab_xylazine = 0 lab_xylazine_any = 1 Trace defined as less than 5% peak height of the most abundant molecule on the GCMS chromatogram. Abundance is qualitative — trace ≠ quantified concentration and never implies purity. Convention documented in technical_details.md · every following chart is stacked primary + trace-only r/data.R::quarterly_rate()</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Convention documented in technical_details.md · every following chart is stacked primary + trace-only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Orientation</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Accessibility</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This deck conforms to WCAG 2.2 Level AA, the level required by UNC's Accessibility of Digital Content and Materials Standard and ADA Title II. · Contrast-checked palette — text ≥ 4.5:1, chart marks ≥ 3:1 · Alt text regenerates nightly with each figure, from the same data · Full data tables for key charts in the Appendix (end of deck) · No color-only encoding — segments labeled directly, partial quarters striped · Logical heading structure and reading order on every slide Found a barrier? Report it to the UNC Digital Accessibility Office: digital_accessibility@unc.edu digitalaccessibility.unc.edu/report 919-962-7636 Static slide — reviewed by lab staff, not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Static slide — reviewed by lab staff, not regenerated nightly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Coverage Summary</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How much of the state the program sees: statewide totals at a glance, sample volume by quarter, and county-level reach — the denominators behind every rate in this deck.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North Carolina at a Glance</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PLACEHOLDER · figs/stats.json January 2022 to Friday, October 09, 2026 N = 2,959 NC samples analyzed Mailed in from 86 harm reduction programs Collected across 59 counties 249 distinct substances detected to date Unique samples = n_distinct(sampleid) · substances from lab_detail.substance · includes samples with date_complete 26 Jan 2022 – 09 Oct 2026 r/build_nightly.R → figs/stats.json</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Unique samples = n_distinct(sampleid) · substances from lab_detail.substance · includes samples with date_complete 26 Jan 2022 – 09 Oct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Samples Completed by Quarter</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Unique sampleid by calendar quarter of date_complete · current quarter shown striped + labeled partial · data table: Appendix A1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County Coverage</a:t>
            </a:r>
          </a:p>
        </p:txBody>
      </p:sp>
      <p:pic>
        <p:nvPicPr>
          <p:cNvPr id="4" name="" descr=""/>
          <p:cNvPicPr>
            <a:picLocks noGrp="1"/>
          </p:cNvPicPr>
          <p:nvPr>
            <p:ph/>
          </p:nvPr>
        </p:nvPicPr>
        <p:blipFill>
          <a:blip r:embed="rId2"/>
          <a:stretch>
            <a:fillRect/>
          </a:stretch>
        </p:blipFill>
        <p:spPr>
          <a:xfrm>
            <a:off x="698500" y="1511300"/>
            <a:ext cx="5270500" cy="4584700"/>
          </a:xfrm>
          <a:prstGeom prst="rect">
            <a:avLst/>
          </a:prstGeom>
        </p:spPr>
      </p:pic>
      <p:pic>
        <p:nvPicPr>
          <p:cNvPr id="5" name="" descr=""/>
          <p:cNvPicPr>
            <a:picLocks noGrp="1"/>
          </p:cNvPicPr>
          <p:nvPr>
            <p:ph/>
          </p:nvPr>
        </p:nvPicPr>
        <p:blipFill>
          <a:blip r:embed="rId3"/>
          <a:stretch>
            <a:fillRect/>
          </a:stretch>
        </p:blipFill>
        <p:spPr>
          <a:xfrm>
            <a:off x="6223000" y="1511300"/>
            <a:ext cx="5270500" cy="4584700"/>
          </a:xfrm>
          <a:prstGeom prst="rect">
            <a:avLst/>
          </a:prstGeom>
        </p:spPr>
      </p:pic>
      <p:sp>
        <p:nvSpPr>
          <p:cNvPr id="6"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County = samplecounty · left: ≥1 completed analysis ever · right: unique samples per county (sqrt color scale) · all time: 26 Jan 2022 – 09 Oct 2026 · last 12 months: 11 Oct 2025 – 09 Oct 2026* · coverage reflects participation, not prevalence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Donor-reported context collected with every sample: what they expected, how it felt, how it looked, and whether an overdose was involved.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Expected Substances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expectedsubstance (verbatim card write-in, semicolon lists split) · derived flags: expect_opioid, expect_fentanyl, expect_meth, expect_cocaine, expect_stimulant… · includes samples with date_complete 26 Jan 2022 – 09 Oct 2026 · data table: Appendix A2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Expectation vs. Lab Result</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Numerator uses lab_*_any (primary or trace) among samples with expect_* = 1 · includes samples with date_complete 26 Jan 2022 – 09 Oct 2026 · data table: Appendix A3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Reported Sensations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sensations (circled on card, semicolon lists split) · post-consumption samples only (consumed = 1) · includes samples with date_complete 26 Jan 2022 – 09 Oct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Sensations by Key Substance</a:t>
            </a:r>
          </a:p>
        </p:txBody>
      </p:sp>
      <p:pic>
        <p:nvPicPr>
          <p:cNvPr id="4" name="" descr=""/>
          <p:cNvPicPr>
            <a:picLocks noGrp="1"/>
          </p:cNvPicPr>
          <p:nvPr>
            <p:ph/>
          </p:nvPr>
        </p:nvPicPr>
        <p:blipFill>
          <a:blip r:embed="rId2"/>
          <a:stretch>
            <a:fillRect/>
          </a:stretch>
        </p:blipFill>
        <p:spPr>
          <a:xfrm>
            <a:off x="698500" y="1511300"/>
            <a:ext cx="5270500" cy="4584700"/>
          </a:xfrm>
          <a:prstGeom prst="rect">
            <a:avLst/>
          </a:prstGeom>
        </p:spPr>
      </p:pic>
      <p:pic>
        <p:nvPicPr>
          <p:cNvPr id="5" name="" descr=""/>
          <p:cNvPicPr>
            <a:picLocks noGrp="1"/>
          </p:cNvPicPr>
          <p:nvPr>
            <p:ph/>
          </p:nvPr>
        </p:nvPicPr>
        <p:blipFill>
          <a:blip r:embed="rId3"/>
          <a:stretch>
            <a:fillRect/>
          </a:stretch>
        </p:blipFill>
        <p:spPr>
          <a:xfrm>
            <a:off x="6223000" y="1511300"/>
            <a:ext cx="5270500" cy="4584700"/>
          </a:xfrm>
          <a:prstGeom prst="rect">
            <a:avLst/>
          </a:prstGeom>
        </p:spPr>
      </p:pic>
      <p:sp>
        <p:nvSpPr>
          <p:cNvPr id="6"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sensations semicolon lists parsed per report · consumed = 1 only · denominator: consumed samples with lab_*_any = 1 · includes samples with date_complete 26 Jan 2022 – 09 Oct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Sensation Shift — Stimulants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Samples with methamphetamine or cocaine detected (any abundance); samples in both classes appear on both slides · sensations semicolon lists parsed + sen_strength (own denominator) · consumed = 1 only · before: 26 Jan 2022 – 09 Oct 2025 · past 12 months: 11 Oct 2025 – 09 Oct 2026* · Δ in percentage points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Sensation Shift — Opioids + Benzos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Samples with an opioid (fentanyl, heroin) or benzodiazepine detected (any abundance); samples in both classes appear on both slides · sensations semicolon lists parsed + sen_strength (own denominator) · consumed = 1 only · before: 26 Jan 2022 – 09 Oct 2025 · past 12 months: 11 Oct 2025 – 09 Oct 2026* · Δ in percentage points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Overdose Involvement</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od = 1 (reported involved) per 1,000 unique samples completed that quarter · verbatim context in overdose_notes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Color and Texture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color, texture (card v3+, semicolon lists split) · derived: bright_color excludes white/tan/brown family — orange bar above · includes samples with date_complete 26 Jan 2022 – 09 Oct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GCMS results as quarterly rates per 1,000 samples — stacked primary (solid) + trace-only (light) for nine priority substances.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Substances per Sample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Distribution of substances detected per sample, both definitions shown side by side · includes samples with date_complete 26 Jan 2022 – 09 Oct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Top Substances Detected</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lab_detail.substance counts · solid = primary abundance, light = trace · standardized names (PubChem-linked) · includes samples with date_complete 26 Jan 2022 – 09 Oct 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Top Substances — Past 12 Months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lab_detail.substance counts · solid = primary abundance, light = trace · standardized names (PubChem-linked) · window: date_complete 11 Oct 2025 – 09 Oct 2026* (trailing 12 months, current month partial)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Substances per Sample — Past 12 Months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Distribution of substances detected per sample, both definitions shown side by side · window: date_complete 11 Oct 2025 – 09 Oct 2026* (trailing 12 months, current month partial)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lab_fentanyl (primary) + trace-only (lab_fentanyl_any − lab_fentanyl) · exact match, analogues excluded · per 1,000/month · LOESS on complete months · * = partial month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 Synthesis Impurities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'4-ANPP|phenethyl' (see lab_fentanyl_impurity) · per 1,000/month · LOESS on complete months · * = partial month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Xylazine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lab_xylazine (primary) + trace-only (lab_xylazine_any − lab_xylazine) · per 1,000/month · LOESS on complete months · * = partial month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Medetomidine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'medetomidine' with abundance split · per 1,000/month · LOESS on complete months · * = partial month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Methamphetamine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lab_meth (primary) + trace-only (lab_meth_any − lab_meth) · per 1,000/month · LOESS on complete months · * = partial month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Cocaine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lab_cocaine (primary) + trace-only (lab_cocaine_any − lab_cocaine) · per 1,000/month · LOESS on complete months · * = partial month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Levamisole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lab_levamisole_any is the only derived flag — primary/trace split rebuilt from lab_detail abundance · per 1,000/month · LOESS on complete months · * = partial month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Carfentanil</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lab_carfentanil (primary) + trace-only (lab_carfentanil_any − lab_carfentanil) · per 1,000/month · LOESS on complete months · * = partial month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Nitazenes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'nitazene|etonitazene|metonitazene|protonitazene|isotonitazene' · per 1,000/month · LOESS on complete months · * = partial month</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BTMPS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'BTMPS|bis(2,2,6,6…' · per 1,000/month · LOESS on complete months · * = partial month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Two-Year Trends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Key Metrics, Last 24 Months</a:t>
            </a:r>
          </a:p>
        </p:txBody>
      </p:sp>
      <p:sp>
        <p:nvSpPr>
          <p:cNvPr id="4"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Monthly values, trailing 24 months from run date · line = LOESS on complete months · Δ = last complete month vs prior · green = favorable direction · orange point* = partial month · data table: Appendix A4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Opioid–Stimulant Overlap</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lab_fentanyl_any = 1 per 1,000 samples where lab_meth = 1 (or lab_cocaine = 1) that quarter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The State View</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Key substances in the legacy OCME dashboard format the state expects — headline month comparison, month-to-month lines, year-to-year YTD bars, and the co-detection mix — computed from drug checking samples instead of death records.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Fentanyl-Positive Samples, UNC Street Drug Analysis Lab (Drug Checking) Data: Oct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Xylazine-Positive Samples, UNC Street Drug Analysis Lab (Drug Checking) Data: Oct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Methamphetamine-Positive Samples, UNC Street Drug Analysis Lab (Drug Checking) Data: Oct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Cocaine-Positive Samples, UNC Street Drug Analysis Lab (Drug Checking) Data: Oct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Regional Maps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North Carolina in three regions — eastern, central, western — assigned by county of sample collection. For each key substance: prevalence per 1,000 samples last quarter, and the change from the quarter before.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 by Region, UNC Street Drug Analysis Lab (Drug Checking) Data: 2026Q3</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Fentanyl-positive (any abundance) per 1,000 samples completed in the region, 2026Q3</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Xylazine by Region, UNC Street Drug Analysis Lab (Drug Checking) Data: 2026Q3</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Xylazine-positive (any abundance) per 1,000 samples completed in the region, 2026Q3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Methamphetamine by Region, UNC Street Drug Analysis Lab (Drug Checking) Data: 2026Q3</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Methamphetamine-positive (any abundance) per 1,000 samples completed in the region, 2026Q3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Cocaine by Region, UNC Street Drug Analysis Lab (Drug Checking) Data: 2026Q3</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Cocaine-positive (any abundance) per 1,000 samples completed in the region, 2026Q3</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New Detections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Substances appearing in North Carolina for the first time ever, surfaced within the last three months of lab completions.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New Detections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New to North Carolina: Last Three Months</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3434608"/>
                <a:gridCol w="1237011"/>
                <a:gridCol w="1218929"/>
                <a:gridCol w="1186187"/>
                <a:gridCol w="89686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Substance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First seen</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Abundance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Detections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dihydro-7-hydroxy mitragynine (MGM-15)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06 Oct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605865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cannabigerol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05 Oct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605975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delta-4(8)-iso-THC</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05 Oct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605975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naphazoline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18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821737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SR 17018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604357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chlorphenamine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02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trace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605053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delorazepam</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11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605335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misoprostol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06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sucrose octaacetate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aminopyrine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antipyrine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N-(2-phenylethyl)aniline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17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900889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Definition: min(date_complete) per substance in NC falls within the last 91 days · linked to the public sample record · data table: Appendix A5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New Detections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Emerging Substance Watchlist</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MedetomidineFastest-growing adulterant; harder to reverse than xylazine with standard protocols.First NC detection: 2024Q4 · slide 20 BTMPSIndustrial chemical of unknown toxicity, now routine in fentanyl samples nationally.First NC detection: 2024Q4 · slide 26 Nitazene analoguesNew analogues keep appearing; potency varies wildly across the class.Newest analogue: Aug 2026 · slide 25 Curated by lab staff — the one slide reviewed by a human rather than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Curated by lab staff — the one slide reviewed by a human rather than regenerated nightly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What these data can and cannot say — read before citing any number in this deck.</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Data Caveats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 ~70% of samples are post-consumption — drugs often arrive because they caused unexpected reactions, inflating unusual findings · Point-of-care FTIR programs test first and may mail us their most complex samples · This is a convenience sample — rates per 1,000 samples are not population prevalence · GCMS abundance is qualitative: trace ≠ quantified concentration, and no purity is measured · Locations geocode to city/county centroids and default to the program's mailing city when blank · The current quarter is always partial; overdose involvement is only known when reported Full methods and variable notes: technical_details.md + codebook in the opioiddatalab/drugchecking repository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Full methods and variable notes: technical_details.md + codebook in the opioiddatalab/drugchecking repository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Variable Reference</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Card variables expectedsubstance · expect_* sensations · sen_* color · bright_color · texture overdose · od · overdose_notes sampletype · collection · consumed location · county · state · countyfips Derived lab flags lab_&amp;lt;drug&amp;gt; = primary lab_&amp;lt;drug&amp;gt;_any = primary or trace lab_&amp;lt;drug&amp;gt;_trace = trace only lab_num_substances(_any) lab_null · primary · trace lab_fentanyl_impurity lab_detail columns sampleid · substance · method abundance (blank = primary) chemical-class flags PubChem CID · CAS · UNII date_complete Full codebook (96 variables): github.com/opioiddatalab/drugchecking → datasets/unc_druchecking_codebook.txt</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Full codebook (96 variables): github.com/opioiddatalab/drugchecking → datasets/unc_druchecking_codebook.txt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Data Access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NC extractsdata.streetsafe.supply/datasets/NC/analysis_dataset.csv data.streetsafe.supply/datasets/NC/lab_detail.csv RefreshDaily · four formats (CSV, Stata, Excel, SAS) · link on sampleid DocumentationCodebook + technical_details.md in github.com/opioiddatalab/drugchecking Sample recordsPublic, human-readable result pages at results.streetsafe.supply TermsData Use &amp; Protection Statement at results.streetsafe.supply/data-use Questions about access or additional chemical classifications: contact the lab via opioiddata.org Data and code released under CC0 1.0 (public domain dedication). Attribution is not required, but is requested: UNC Street Drug Analysis Lab · OpioidData.org.</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Questions about access or additional chemical classifications: contact the lab via opioiddata.org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Data Tables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The numbers behind the key charts, as accessible tables — regenerated nightly with the figures. Chart slides point here from their footers.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A1 · Samples Completed by Quarter</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928193"/>
                <a:gridCol w="1627016"/>
                <a:gridCol w="972618"/>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Quarter</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Unique 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Status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158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128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196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11 · unique sampleid by calendar quarter of date_complete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A2 · Expected Substances</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45719"/>
                <a:gridCol w="98757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Expected substance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1,519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methamphetamine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454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heroin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xylazine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252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unknown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cocaine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MDMA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xylazine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methamphetamine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benzodiazepine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ketamine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heroin, fentanyl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14 · expectedsubstance, semicolon lists split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A3 · Expectation vs. Lab Result</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82033"/>
                <a:gridCol w="987575"/>
                <a:gridCol w="2649911"/>
                <a:gridCol w="212179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Expectation</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Confirmed (any abundance)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Variable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fentanyl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1,763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lab_fentanyl_any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methamphetamine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532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lab_meth_any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cocaine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lab_cocaine_any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benzodiazepine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lab_benzodiazepine_any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xylazine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369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lab_xylazine_any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15 · numerator lab_*_any among samples with expect_* = 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A4 · Key Substance Rates, Latest Complete Month</a:t>
            </a:r>
          </a:p>
        </p:txBody>
      </p:sp>
      <p:graphicFrame>
        <p:nvGraphicFramePr>
          <p:cNvPr id="4" name=""/>
          <p:cNvGraphicFramePr>
            <a:graphicFrameLocks noGrp="true"/>
          </p:cNvGraphicFramePr>
          <p:nvPr/>
        </p:nvGraphicFramePr>
        <p:xfrm rot="0">
          <a:off x="698500" y="1511300"/>
          <a:ext cx="5219700" cy="4584700"/>
        </p:xfrm>
        <a:graphic>
          <a:graphicData uri="http://schemas.openxmlformats.org/drawingml/2006/table">
            <a:tbl>
              <a:tblPr/>
              <a:tblGrid>
                <a:gridCol w="2181400"/>
                <a:gridCol w="1846909"/>
                <a:gridCol w="904901"/>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Metric</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Per 1,000 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Change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Samples completed</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155 / month</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710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impurities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690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Xylazine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Medetomidine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Methamphetamine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406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graphicFrame>
        <p:nvGraphicFramePr>
          <p:cNvPr id="5" name=""/>
          <p:cNvGraphicFramePr>
            <a:graphicFrameLocks noGrp="true"/>
          </p:cNvGraphicFramePr>
          <p:nvPr/>
        </p:nvGraphicFramePr>
        <p:xfrm rot="0">
          <a:off x="6273800" y="1511300"/>
          <a:ext cx="5219700" cy="4584700"/>
        </p:xfrm>
        <a:graphic>
          <a:graphicData uri="http://schemas.openxmlformats.org/drawingml/2006/table">
            <a:tbl>
              <a:tblPr/>
              <a:tblGrid>
                <a:gridCol w="1690863"/>
                <a:gridCol w="1846909"/>
                <a:gridCol w="904901"/>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Metric</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Per 1,000 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Change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Cocaine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Levamisole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Carfentanil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Nitazenes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BTMPS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Overdose-involved</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6"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37 · rate = per 1,000 unique samples completed in the latest complete month (453 samples)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A5 · New to North Carolina, Last Three Months</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3434608"/>
                <a:gridCol w="1237011"/>
                <a:gridCol w="1218929"/>
                <a:gridCol w="1186187"/>
                <a:gridCol w="89686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Substance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First seen</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Abundance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Detections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dihydro-7-hydroxy mitragynine (MGM-15)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06 Oct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605865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cannabigerol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05 Oct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605975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delta-4(8)-iso-THC</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05 Oct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605975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naphazoline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18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821737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SR 17018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604357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chlorphenamine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02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trace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605053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delorazepam</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11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605335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misoprostol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06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sucrose octaacetate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aminopyrine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antipyrine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N-(2-phenylethyl)aniline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17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900889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50 · min(date_complete) per substance within the last 91 days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UNC Street Drug Analysis Lab OpioidData.org · results.streetsafe.supply Samples gathered by North Carolina harm reduction programs and analyzed by the UNC Opioid Data Lab. This brief regenerates nightly; cite the generation date on the title slide. Data and code released under CC0 1.0 (public domain dedication). Attribution is not required, but is requested: UNC Street Drug Analysis Lab · OpioidData.org.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runner</cp:lastModifiedBy>
  <cp:revision>3</cp:revision>
  <dcterms:created xsi:type="dcterms:W3CDTF">2017-02-13T16:18:36Z</dcterms:created>
  <dcterms:modified xsi:type="dcterms:W3CDTF">2026-10-11T10:17:06Z</dcterms:modified>
  <cp:category/>
</cp:coreProperties>
</file>