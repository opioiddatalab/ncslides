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Relationship Id="rId16" Type="http://schemas.openxmlformats.org/officeDocument/2006/relationships/slide" Target="slides/slide9.xml"/>
<Relationship Id="rId17" Type="http://schemas.openxmlformats.org/officeDocument/2006/relationships/slide" Target="slides/slide10.xml"/>
<Relationship Id="rId18" Type="http://schemas.openxmlformats.org/officeDocument/2006/relationships/slide" Target="slides/slide11.xml"/>
<Relationship Id="rId19" Type="http://schemas.openxmlformats.org/officeDocument/2006/relationships/slide" Target="slides/slide12.xml"/>
<Relationship Id="rId20" Type="http://schemas.openxmlformats.org/officeDocument/2006/relationships/slide" Target="slides/slide13.xml"/>
<Relationship Id="rId21" Type="http://schemas.openxmlformats.org/officeDocument/2006/relationships/slide" Target="slides/slide14.xml"/>
<Relationship Id="rId22" Type="http://schemas.openxmlformats.org/officeDocument/2006/relationships/slide" Target="slides/slide15.xml"/>
<Relationship Id="rId23" Type="http://schemas.openxmlformats.org/officeDocument/2006/relationships/slide" Target="slides/slide16.xml"/>
<Relationship Id="rId24" Type="http://schemas.openxmlformats.org/officeDocument/2006/relationships/slide" Target="slides/slide17.xml"/>
<Relationship Id="rId25" Type="http://schemas.openxmlformats.org/officeDocument/2006/relationships/slide" Target="slides/slide18.xml"/>
<Relationship Id="rId26" Type="http://schemas.openxmlformats.org/officeDocument/2006/relationships/slide" Target="slides/slide19.xml"/>
<Relationship Id="rId27" Type="http://schemas.openxmlformats.org/officeDocument/2006/relationships/slide" Target="slides/slide20.xml"/>
<Relationship Id="rId28" Type="http://schemas.openxmlformats.org/officeDocument/2006/relationships/slide" Target="slides/slide21.xml"/>
<Relationship Id="rId29" Type="http://schemas.openxmlformats.org/officeDocument/2006/relationships/slide" Target="slides/slide22.xml"/>
<Relationship Id="rId30" Type="http://schemas.openxmlformats.org/officeDocument/2006/relationships/slide" Target="slides/slide23.xml"/>
<Relationship Id="rId31" Type="http://schemas.openxmlformats.org/officeDocument/2006/relationships/slide" Target="slides/slide24.xml"/>
<Relationship Id="rId32" Type="http://schemas.openxmlformats.org/officeDocument/2006/relationships/slide" Target="slides/slide25.xml"/>
<Relationship Id="rId33" Type="http://schemas.openxmlformats.org/officeDocument/2006/relationships/slide" Target="slides/slide26.xml"/>
<Relationship Id="rId34" Type="http://schemas.openxmlformats.org/officeDocument/2006/relationships/slide" Target="slides/slide27.xml"/>
<Relationship Id="rId35" Type="http://schemas.openxmlformats.org/officeDocument/2006/relationships/slide" Target="slides/slide28.xml"/>
<Relationship Id="rId36" Type="http://schemas.openxmlformats.org/officeDocument/2006/relationships/slide" Target="slides/slide29.xml"/>
<Relationship Id="rId37" Type="http://schemas.openxmlformats.org/officeDocument/2006/relationships/slide" Target="slides/slide30.xml"/>
<Relationship Id="rId38" Type="http://schemas.openxmlformats.org/officeDocument/2006/relationships/slide" Target="slides/slide31.xml"/>
<Relationship Id="rId39" Type="http://schemas.openxmlformats.org/officeDocument/2006/relationships/slide" Target="slides/slide32.xml"/>
<Relationship Id="rId40" Type="http://schemas.openxmlformats.org/officeDocument/2006/relationships/slide" Target="slides/slide33.xml"/>
<Relationship Id="rId41" Type="http://schemas.openxmlformats.org/officeDocument/2006/relationships/slide" Target="slides/slide34.xml"/>
<Relationship Id="rId42" Type="http://schemas.openxmlformats.org/officeDocument/2006/relationships/slide" Target="slides/slide35.xml"/>
<Relationship Id="rId43" Type="http://schemas.openxmlformats.org/officeDocument/2006/relationships/slide" Target="slides/slide36.xml"/>
<Relationship Id="rId44" Type="http://schemas.openxmlformats.org/officeDocument/2006/relationships/slide" Target="slides/slide37.xml"/>
<Relationship Id="rId45" Type="http://schemas.openxmlformats.org/officeDocument/2006/relationships/slide" Target="slides/slide38.xml"/>
<Relationship Id="rId46" Type="http://schemas.openxmlformats.org/officeDocument/2006/relationships/slide" Target="slides/slide39.xml"/>
<Relationship Id="rId47" Type="http://schemas.openxmlformats.org/officeDocument/2006/relationships/slide" Target="slides/slide40.xml"/>
<Relationship Id="rId48" Type="http://schemas.openxmlformats.org/officeDocument/2006/relationships/slide" Target="slides/slide41.xml"/>
<Relationship Id="rId49" Type="http://schemas.openxmlformats.org/officeDocument/2006/relationships/slide" Target="slides/slide42.xml"/>
<Relationship Id="rId50" Type="http://schemas.openxmlformats.org/officeDocument/2006/relationships/slide" Target="slides/slide43.xml"/>
<Relationship Id="rId51" Type="http://schemas.openxmlformats.org/officeDocument/2006/relationships/slide" Target="slides/slide44.xml"/>
<Relationship Id="rId52" Type="http://schemas.openxmlformats.org/officeDocument/2006/relationships/slide" Target="slides/slide45.xml"/>
<Relationship Id="rId53" Type="http://schemas.openxmlformats.org/officeDocument/2006/relationships/slide" Target="slides/slide46.xml"/>
<Relationship Id="rId54" Type="http://schemas.openxmlformats.org/officeDocument/2006/relationships/slide" Target="slides/slide47.xml"/>
<Relationship Id="rId55" Type="http://schemas.openxmlformats.org/officeDocument/2006/relationships/slide" Target="slides/slide48.xml"/>
<Relationship Id="rId56" Type="http://schemas.openxmlformats.org/officeDocument/2006/relationships/slide" Target="slides/slide49.xml"/>
<Relationship Id="rId57" Type="http://schemas.openxmlformats.org/officeDocument/2006/relationships/slide" Target="slides/slide50.xml"/>
<Relationship Id="rId58" Type="http://schemas.openxmlformats.org/officeDocument/2006/relationships/slide" Target="slides/slide51.xml"/>
<Relationship Id="rId59" Type="http://schemas.openxmlformats.org/officeDocument/2006/relationships/slide" Target="slides/slide52.xml"/>
<Relationship Id="rId60" Type="http://schemas.openxmlformats.org/officeDocument/2006/relationships/slide" Target="slides/slide53.xml"/>
<Relationship Id="rId61" Type="http://schemas.openxmlformats.org/officeDocument/2006/relationships/slide" Target="slides/slide54.xml"/>
<Relationship Id="rId62" Type="http://schemas.openxmlformats.org/officeDocument/2006/relationships/slide" Target="slides/slide55.xml"/>
<Relationship Id="rId63" Type="http://schemas.openxmlformats.org/officeDocument/2006/relationships/slide" Target="slides/slide56.xml"/>
<Relationship Id="rId64" Type="http://schemas.openxmlformats.org/officeDocument/2006/relationships/slide" Target="slides/slide57.xml"/>
<Relationship Id="rId65" Type="http://schemas.openxmlformats.org/officeDocument/2006/relationships/slide" Target="slides/slide58.xml"/>
<Relationship Id="rId66" Type="http://schemas.openxmlformats.org/officeDocument/2006/relationships/slide" Target="slides/slide59.xml"/>
<Relationship Id="rId67" Type="http://schemas.openxmlformats.org/officeDocument/2006/relationships/slide" Target="slides/slide60.xml"/>
<Relationship Id="rId68" Type="http://schemas.openxmlformats.org/officeDocument/2006/relationships/slide" Target="slides/slide61.xml"/>
<Relationship Id="rId69" Type="http://schemas.openxmlformats.org/officeDocument/2006/relationships/slide" Target="slides/slide62.xml"/>
<Relationship Id="rId70" Type="http://schemas.openxmlformats.org/officeDocument/2006/relationships/slide" Target="slides/slide63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e554aadfbd9c24dbfb24db78e5ed61bb4bd27ff3.png"/>
</Relationships>

</file>

<file path=ppt/slides/_rels/slide1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d6a0a2d68189e87b088ce474ab3c6a1b88c52bad.png"/>
<Relationship Id="rId3" Type="http://schemas.openxmlformats.org/officeDocument/2006/relationships/image" Target="../media/b0b31628263648598aa4f7c63f3abcb90929fd57.png"/>
</Relationships>

</file>

<file path=ppt/slides/_rels/slide1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ba07a86bb90dd69168d09fcb21f51158cb9e3cb2.png"/>
</Relationships>

</file>

<file path=ppt/slides/_rels/slide1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84f542e5ab16468e3476591e034446d4f40ad00a.png"/>
</Relationships>

</file>

<file path=ppt/slides/_rels/slide1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cb4e119dd4583ee2bde0f25db58271e23f9e4a01.png"/>
</Relationships>

</file>

<file path=ppt/slides/_rels/slide1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fd3e0e66a8f441a331d172bb14b07451e519d466.png"/>
<Relationship Id="rId3" Type="http://schemas.openxmlformats.org/officeDocument/2006/relationships/image" Target="../media/61efd6dc1692cdbd0d1870e172f739f4b7ef88b5.png"/>
</Relationships>

</file>

<file path=ppt/slides/_rels/slide1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911f742d7b6d480a51a26c0a665f375e71de3c04.png"/>
</Relationships>

</file>

<file path=ppt/slides/_rels/slide2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2d40c570ce6bf22d71998209540bbce7e022575b.png"/>
</Relationships>

</file>

<file path=ppt/slides/_rels/slide2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74b918a461febbbc9a6c90883388d06b499eb568.png"/>
</Relationships>

</file>

<file path=ppt/slides/_rels/slide2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bc6f0fff0c6f45e9556bee6eda7847bf7787cffe.png"/>
</Relationships>

</file>

<file path=ppt/slides/_rels/slide2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ee935b8ee44701a483b14303a43cb8ea3d948527.png"/>
</Relationships>

</file>

<file path=ppt/slides/_rels/slide2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2d1a8efa1775d9ae9714c85c7f742f3357c6b11c.png"/>
</Relationships>

</file>

<file path=ppt/slides/_rels/slide2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1addcb3fbd5118f95eb9f964a9be9eaf2aa929d7.png"/>
</Relationships>

</file>

<file path=ppt/slides/_rels/slide2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831f6cf2012e6f3fd0eaad61823b4a7c6db5b8e3.png"/>
</Relationships>

</file>

<file path=ppt/slides/_rels/slide2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0ce8d4b9285db4ca9a87ce1d336213e876e9a3d3.png"/>
</Relationships>

</file>

<file path=ppt/slides/_rels/slide2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714838d0f6150efb24826ad95f188f33fc15277f.png"/>
</Relationships>

</file>

<file path=ppt/slides/_rels/slide3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209a7d97097233b6917c5f4357cf66342dbde5c2.png"/>
</Relationships>

</file>

<file path=ppt/slides/_rels/slide3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1c22327ceb324959befc8fce56ecfc72c7523652.png"/>
</Relationships>

</file>

<file path=ppt/slides/_rels/slide3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266a9353c958e8ed0114a26e400ceedccde70de9.png"/>
</Relationships>

</file>

<file path=ppt/slides/_rels/slide3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11b28794956611853b616c6b1803a9e58f204a6e.png"/>
</Relationships>

</file>

<file path=ppt/slides/_rels/slide3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879bce816e16fd0e51e1fab184876965b60b41b7.png"/>
</Relationships>

</file>

<file path=ppt/slides/_rels/slide3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38b48cb6a2563a3b49c6a0d9c9df8c3ceb600d58.png"/>
</Relationships>

</file>

<file path=ppt/slides/_rels/slide3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fecf14df3e61314ff9fdca6726f4c8ea5539f3bf.png"/>
</Relationships>

</file>

<file path=ppt/slides/_rels/slide3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17b2bebb33fd90af280ee9b7e9de75bfb37a3907.png"/>
</Relationships>

</file>

<file path=ppt/slides/_rels/slide3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0bcc993d00353bb3e634e9f24332e0cfab9d46a5.png"/>
<Relationship Id="rId3" Type="http://schemas.openxmlformats.org/officeDocument/2006/relationships/image" Target="../media/913b8544e8573b4482aabfa00037ffeffa482ac7.png"/>
<Relationship Id="rId4" Type="http://schemas.openxmlformats.org/officeDocument/2006/relationships/image" Target="../media/5f64c89ab68b14c51b106c7037fd3d7f19170fda.png"/>
<Relationship Id="rId5" Type="http://schemas.openxmlformats.org/officeDocument/2006/relationships/image" Target="../media/2834e21f73d89a99dd15f696d795bab15ae973b9.png"/>
<Relationship Id="rId6" Type="http://schemas.openxmlformats.org/officeDocument/2006/relationships/image" Target="../media/09b9ff6c67e391e6539681bb00f4d749404d48b4.png"/>
<Relationship Id="rId7" Type="http://schemas.openxmlformats.org/officeDocument/2006/relationships/image" Target="../media/59d9af880b7fbd9eed03eab89708716a7ef689c4.png"/>
<Relationship Id="rId8" Type="http://schemas.openxmlformats.org/officeDocument/2006/relationships/image" Target="../media/6d38da431114562717f19fe3f8bf97a5497c54cd.png"/>
<Relationship Id="rId9" Type="http://schemas.openxmlformats.org/officeDocument/2006/relationships/image" Target="../media/67a1d8310823546844bcc5784fa52c4c1e031cca.png"/>
<Relationship Id="rId10" Type="http://schemas.openxmlformats.org/officeDocument/2006/relationships/image" Target="../media/d77b3de2ffede40045c576cc5d4ec46cfcf31912.png"/>
<Relationship Id="rId11" Type="http://schemas.openxmlformats.org/officeDocument/2006/relationships/image" Target="../media/7947db3298f1df37cb7d2fb43ad675b6847042c2.png"/>
<Relationship Id="rId12" Type="http://schemas.openxmlformats.org/officeDocument/2006/relationships/image" Target="../media/4ed7433a1f57c4eccec9431c692cd49aa9684f01.png"/>
<Relationship Id="rId13" Type="http://schemas.openxmlformats.org/officeDocument/2006/relationships/image" Target="../media/e45dd5d30cf916969e2daef05b2aed4cc298f5dc.png"/>
</Relationships>

</file>

<file path=ppt/slides/_rels/slide3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790024ef8a37cea75dc1f11385d7a7a7664d637a.png"/>
</Relationships>

</file>

<file path=ppt/slides/_rels/slide4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4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625adf38cc6fc249fb766fd8ca5e9643ba1052e5.png"/>
<Relationship Id="rId3" Type="http://schemas.openxmlformats.org/officeDocument/2006/relationships/image" Target="../media/2e6f10237b837cbfa8ca42be4b4b8136dc4978ea.png"/>
</Relationships>

</file>

<file path=ppt/slides/_rels/slide4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5e034f81c0ee5e34f10e0c487736e9b789416390.png"/>
<Relationship Id="rId3" Type="http://schemas.openxmlformats.org/officeDocument/2006/relationships/image" Target="../media/19a5e4f9415c20f55df90e079b3603ed6d13ef88.png"/>
</Relationships>

</file>

<file path=ppt/slides/_rels/slide4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ba9226339656e61b4e892e9d4dc049663c0f0143.png"/>
<Relationship Id="rId3" Type="http://schemas.openxmlformats.org/officeDocument/2006/relationships/image" Target="../media/9e295d8b81be93c93cfa5185c1f88ee8fa25cef8.png"/>
</Relationships>

</file>

<file path=ppt/slides/_rels/slide4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4991a5dffc44880eb95c60a556bdacf2c905e288.png"/>
<Relationship Id="rId3" Type="http://schemas.openxmlformats.org/officeDocument/2006/relationships/image" Target="../media/138fc8322bca5b2e6f0f9ff722d2b7a9f059d9fa.png"/>
</Relationships>

</file>

<file path=ppt/slides/_rels/slide4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4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e1fdae4dd9fe90c5a6e958b27c1957d22ba1d29e.png"/>
<Relationship Id="rId3" Type="http://schemas.openxmlformats.org/officeDocument/2006/relationships/image" Target="../media/ac13ffba12cc579f2810d16686996253f5861166.png"/>
</Relationships>

</file>

<file path=ppt/slides/_rels/slide4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bff34e4a3b545813b748a6c8aa95194307b36352.png"/>
<Relationship Id="rId3" Type="http://schemas.openxmlformats.org/officeDocument/2006/relationships/image" Target="../media/763946bdb93386b476e5fb0e9a750274d22cf4dc.png"/>
</Relationships>

</file>

<file path=ppt/slides/_rels/slide4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0aadf8659626ab219f728bcb4619de8ed69adc8e.png"/>
<Relationship Id="rId3" Type="http://schemas.openxmlformats.org/officeDocument/2006/relationships/image" Target="../media/06b91189ae5b9b73a1a97600eb777a32485df370.png"/>
</Relationships>

</file>

<file path=ppt/slides/_rels/slide4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6561966d4c3e3630e8a81f2a57229e7857069bd4.png"/>
<Relationship Id="rId3" Type="http://schemas.openxmlformats.org/officeDocument/2006/relationships/image" Target="../media/a154339da85271dd1ea884b50524329507599602.png"/>
</Relationships>

</file>

<file path=ppt/slides/_rels/slide5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5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5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5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5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5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5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5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5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5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6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6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6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6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342900"/>
            <a:ext cx="10795000" cy="2159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A6D99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DAILY SLIDE DECK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North Carolina Drug Checking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342900"/>
            <a:ext cx="10795000" cy="2159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A6D99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Orientation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About This Slide Deck</a:t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698500" y="6248400"/>
            <a:ext cx="10795000" cy="381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Every figure and statistic is rebuilt from the live extract on each nightly run.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Methods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342900"/>
            <a:ext cx="10795000" cy="2159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A6D99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Orientation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How Samples Reach the Lab</a:t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698500" y="6248400"/>
            <a:ext cx="10795000" cy="381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Sample-level records: results.streetsafe.supply/sample/&amp;lt;sampleid&amp;gt;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342900"/>
            <a:ext cx="10795000" cy="2159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A6D99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The Data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Sample Collection: Core Principles</a:t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698500" y="6248400"/>
            <a:ext cx="10795000" cy="381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Collection and shipping protocol details in the Supplemental Material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342900"/>
            <a:ext cx="10795000" cy="2159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A6D99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The Data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How Samples Are Analyzed</a:t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698500" y="6248400"/>
            <a:ext cx="10795000" cy="381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Qualitative GCMS — abundance is not concentration · full protocol and library details in the Supplemental Material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342900"/>
            <a:ext cx="10795000" cy="2159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A6D99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The Data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Two Linked Datasets</a:t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698500" y="6248400"/>
            <a:ext cx="10795000" cy="381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Direct downloads above · refreshed daily · also in Stata, Excel, SAS at data.streetsafe.supply/datasets/NC/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342900"/>
            <a:ext cx="10795000" cy="2159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A6D99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The Data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Primary vs. Trace: How to Read the Variables</a:t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698500" y="6248400"/>
            <a:ext cx="10795000" cy="381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Convention documented in technical_details.md · every following chart is stacked primary + trace-only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342900"/>
            <a:ext cx="10795000" cy="2159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A6D99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Orientation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Accessibility</a:t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698500" y="6248400"/>
            <a:ext cx="10795000" cy="381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Static slide — reviewed by lab staff, not regenerated nightly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Coverage Summary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342900"/>
            <a:ext cx="10795000" cy="2159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A6D99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The Data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North Carolina at a Glance</a:t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698500" y="6248400"/>
            <a:ext cx="10795000" cy="381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Unique samples = n_distinct(sampleid) · substances from lab_detail.substance · includes samples with date_complete {{STAT:first_date}} – {{STAT:latest_date}}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342900"/>
            <a:ext cx="10795000" cy="2159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A6D99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The Data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Samples Completed by Quarter</a:t>
            </a:r>
          </a:p>
        </p:txBody>
      </p:sp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698500" y="1511300"/>
            <a:ext cx="10795000" cy="4584700"/>
          </a:xfrm>
          <a:prstGeom prst="rect">
            <a:avLst/>
          </a:prstGeom>
        </p:spPr>
      </p:pic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698500" y="6248400"/>
            <a:ext cx="10795000" cy="381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Unique sampleid by calendar quarter of date_complete · current quarter shown striped + labeled partial · data table: Appendix A1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342900"/>
            <a:ext cx="10795000" cy="2159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A6D99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The Data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County Coverage</a:t>
            </a:r>
          </a:p>
        </p:txBody>
      </p:sp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698500" y="1511300"/>
            <a:ext cx="5270500" cy="4584700"/>
          </a:xfrm>
          <a:prstGeom prst="rect">
            <a:avLst/>
          </a:prstGeom>
        </p:spPr>
      </p:pic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6223000" y="1511300"/>
            <a:ext cx="5270500" cy="4584700"/>
          </a:xfrm>
          <a:prstGeom prst="rect">
            <a:avLst/>
          </a:prstGeom>
        </p:spPr>
      </p:pic>
      <p:sp>
        <p:nvSpPr>
          <p:cNvPr id="6" name=""/>
          <p:cNvSpPr>
            <a:spLocks noGrp="1"/>
          </p:cNvSpPr>
          <p:nvPr>
            <p:ph/>
          </p:nvPr>
        </p:nvSpPr>
        <p:spPr>
          <a:xfrm>
            <a:off x="698500" y="6248400"/>
            <a:ext cx="10795000" cy="381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County = samplecounty · left: ≥1 completed analysis ever · right: unique samples per county (sqrt color scale) · all time: {{STAT:first_date}} – {{STAT:latest_date}} · last 12 months: {{STAT:run_date_prior_year}} – {{STAT:latest_date}}* · coverage reflects participation, not prevalence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What the Card Tells Us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342900"/>
            <a:ext cx="10795000" cy="2159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A6D99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What the Card Tells Us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Expected Substances</a:t>
            </a:r>
          </a:p>
        </p:txBody>
      </p:sp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698500" y="1511300"/>
            <a:ext cx="10795000" cy="4584700"/>
          </a:xfrm>
          <a:prstGeom prst="rect">
            <a:avLst/>
          </a:prstGeom>
        </p:spPr>
      </p:pic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698500" y="6248400"/>
            <a:ext cx="10795000" cy="381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expectedsubstance (verbatim card write-in, semicolon lists split) · derived flags: expect_opioid, expect_fentanyl, expect_meth, expect_cocaine, expect_stimulant… · includes samples with date_complete {{STAT:first_date}} – {{STAT:latest_date}} · data table: Appendix A2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342900"/>
            <a:ext cx="10795000" cy="2159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A6D99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What the Card Tells Us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Expectation vs. Lab Result</a:t>
            </a:r>
          </a:p>
        </p:txBody>
      </p:sp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698500" y="1511300"/>
            <a:ext cx="10795000" cy="4584700"/>
          </a:xfrm>
          <a:prstGeom prst="rect">
            <a:avLst/>
          </a:prstGeom>
        </p:spPr>
      </p:pic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698500" y="6248400"/>
            <a:ext cx="10795000" cy="381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Numerator uses lab_*_any (primary or trace) among samples with expect_* = 1 · includes samples with date_complete {{STAT:first_date}} – {{STAT:latest_date}} · data table: Appendix A3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342900"/>
            <a:ext cx="10795000" cy="2159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A6D99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What the Card Tells Us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Reported Sensations</a:t>
            </a:r>
          </a:p>
        </p:txBody>
      </p:sp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698500" y="1511300"/>
            <a:ext cx="10795000" cy="4584700"/>
          </a:xfrm>
          <a:prstGeom prst="rect">
            <a:avLst/>
          </a:prstGeom>
        </p:spPr>
      </p:pic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698500" y="6248400"/>
            <a:ext cx="10795000" cy="381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sensations (circled on card, semicolon lists split) · post-consumption samples only (consumed = 1) · includes samples with date_complete {{STAT:first_date}} – {{STAT:latest_date}}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342900"/>
            <a:ext cx="10795000" cy="2159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A6D99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What the Card Tells Us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Sensations by Key Substance</a:t>
            </a:r>
          </a:p>
        </p:txBody>
      </p:sp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698500" y="1511300"/>
            <a:ext cx="5270500" cy="4584700"/>
          </a:xfrm>
          <a:prstGeom prst="rect">
            <a:avLst/>
          </a:prstGeom>
        </p:spPr>
      </p:pic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6223000" y="1511300"/>
            <a:ext cx="5270500" cy="4584700"/>
          </a:xfrm>
          <a:prstGeom prst="rect">
            <a:avLst/>
          </a:prstGeom>
        </p:spPr>
      </p:pic>
      <p:sp>
        <p:nvSpPr>
          <p:cNvPr id="6" name=""/>
          <p:cNvSpPr>
            <a:spLocks noGrp="1"/>
          </p:cNvSpPr>
          <p:nvPr>
            <p:ph/>
          </p:nvPr>
        </p:nvSpPr>
        <p:spPr>
          <a:xfrm>
            <a:off x="698500" y="6248400"/>
            <a:ext cx="10795000" cy="381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sensations semicolon lists parsed per report · consumed = 1 only · denominator: consumed samples with lab_*_any = 1 · includes samples with date_complete {{STAT:first_date}} – {{STAT:latest_date}}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342900"/>
            <a:ext cx="10795000" cy="2159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A6D99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What the Card Tells Us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Sensation Shift — Stimulants</a:t>
            </a:r>
          </a:p>
        </p:txBody>
      </p:sp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698500" y="1511300"/>
            <a:ext cx="10795000" cy="4584700"/>
          </a:xfrm>
          <a:prstGeom prst="rect">
            <a:avLst/>
          </a:prstGeom>
        </p:spPr>
      </p:pic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698500" y="6248400"/>
            <a:ext cx="10795000" cy="381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Samples with methamphetamine or cocaine detected (any abundance); samples in both classes appear on both slides · sensations semicolon lists parsed + sen_strength (own denominator) · consumed = 1 only · before: {{STAT:first_date}} – {{STAT:latest_date_prior_year}} · past 12 months: {{STAT:run_date_prior_year}} – {{STAT:latest_date}}* · Δ in percentage points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342900"/>
            <a:ext cx="10795000" cy="2159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A6D99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What the Card Tells Us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Sensation Shift — Opioids + Benzos</a:t>
            </a:r>
          </a:p>
        </p:txBody>
      </p:sp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698500" y="1511300"/>
            <a:ext cx="10795000" cy="4584700"/>
          </a:xfrm>
          <a:prstGeom prst="rect">
            <a:avLst/>
          </a:prstGeom>
        </p:spPr>
      </p:pic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698500" y="6248400"/>
            <a:ext cx="10795000" cy="381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Samples with an opioid (fentanyl, heroin) or benzodiazepine detected (any abundance); samples in both classes appear on both slides · sensations semicolon lists parsed + sen_strength (own denominator) · consumed = 1 only · before: {{STAT:first_date}} – {{STAT:latest_date_prior_year}} · past 12 months: {{STAT:run_date_prior_year}} – {{STAT:latest_date}}* · Δ in percentage points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342900"/>
            <a:ext cx="10795000" cy="2159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A6D99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What the Card Tells Us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Overdose Involvement</a:t>
            </a:r>
          </a:p>
        </p:txBody>
      </p:sp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698500" y="1511300"/>
            <a:ext cx="10795000" cy="4584700"/>
          </a:xfrm>
          <a:prstGeom prst="rect">
            <a:avLst/>
          </a:prstGeom>
        </p:spPr>
      </p:pic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698500" y="6248400"/>
            <a:ext cx="10795000" cy="381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od = 1 (reported involved) per 1,000 unique samples completed that quarter · verbatim context in overdose_notes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342900"/>
            <a:ext cx="10795000" cy="2159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A6D99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What the Card Tells Us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Color and Texture</a:t>
            </a:r>
          </a:p>
        </p:txBody>
      </p:sp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698500" y="1511300"/>
            <a:ext cx="10795000" cy="4584700"/>
          </a:xfrm>
          <a:prstGeom prst="rect">
            <a:avLst/>
          </a:prstGeom>
        </p:spPr>
      </p:pic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698500" y="6248400"/>
            <a:ext cx="10795000" cy="381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color, texture (card v3+, semicolon lists split) · derived: bright_color excludes white/tan/brown family — orange bar above · includes samples with date_complete {{STAT:first_date}} – {{STAT:latest_date}}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What the Lab Detects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342900"/>
            <a:ext cx="10795000" cy="2159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A6D99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What the Lab Detects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Substances per Sample</a:t>
            </a:r>
          </a:p>
        </p:txBody>
      </p:sp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698500" y="1511300"/>
            <a:ext cx="10795000" cy="4584700"/>
          </a:xfrm>
          <a:prstGeom prst="rect">
            <a:avLst/>
          </a:prstGeom>
        </p:spPr>
      </p:pic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698500" y="6248400"/>
            <a:ext cx="10795000" cy="381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Distribution of substances detected per sample, both definitions shown side by side · includes samples with date_complete {{STAT:first_date}} – {{STAT:latest_date}}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342900"/>
            <a:ext cx="10795000" cy="2159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A6D99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What the Lab Detects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Top Substances Detected</a:t>
            </a:r>
          </a:p>
        </p:txBody>
      </p:sp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698500" y="1511300"/>
            <a:ext cx="10795000" cy="4584700"/>
          </a:xfrm>
          <a:prstGeom prst="rect">
            <a:avLst/>
          </a:prstGeom>
        </p:spPr>
      </p:pic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698500" y="6248400"/>
            <a:ext cx="10795000" cy="381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lab_detail.substance counts · solid = primary abundance, light = trace · standardized names (PubChem-linked) · includes samples with date_complete {{STAT:first_date}} – {{STAT:latest_date}}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342900"/>
            <a:ext cx="10795000" cy="2159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A6D99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What the Lab Detects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Top Substances — Past 12 Months</a:t>
            </a:r>
          </a:p>
        </p:txBody>
      </p:sp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698500" y="1511300"/>
            <a:ext cx="10795000" cy="4584700"/>
          </a:xfrm>
          <a:prstGeom prst="rect">
            <a:avLst/>
          </a:prstGeom>
        </p:spPr>
      </p:pic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698500" y="6248400"/>
            <a:ext cx="10795000" cy="381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lab_detail.substance counts · solid = primary abundance, light = trace · standardized names (PubChem-linked) · window: date_complete {{STAT:run_date_prior_year}} – {{STAT:latest_date}}* (trailing 12 months, current month partial)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342900"/>
            <a:ext cx="10795000" cy="2159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A6D99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What the Lab Detects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Substances per Sample — Past 12 Months</a:t>
            </a:r>
          </a:p>
        </p:txBody>
      </p:sp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698500" y="1511300"/>
            <a:ext cx="10795000" cy="4584700"/>
          </a:xfrm>
          <a:prstGeom prst="rect">
            <a:avLst/>
          </a:prstGeom>
        </p:spPr>
      </p:pic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698500" y="6248400"/>
            <a:ext cx="10795000" cy="381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Distribution of substances detected per sample, both definitions shown side by side · window: date_complete {{STAT:run_date_prior_year}} – {{STAT:latest_date}}* (trailing 12 months, current month partial)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342900"/>
            <a:ext cx="10795000" cy="2159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A6D99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What the Lab Detects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Fentanyl</a:t>
            </a:r>
          </a:p>
        </p:txBody>
      </p:sp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698500" y="1511300"/>
            <a:ext cx="10795000" cy="4584700"/>
          </a:xfrm>
          <a:prstGeom prst="rect">
            <a:avLst/>
          </a:prstGeom>
        </p:spPr>
      </p:pic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698500" y="6248400"/>
            <a:ext cx="10795000" cy="381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Series: lab_fentanyl (primary) + trace-only (lab_fentanyl_any − lab_fentanyl) · exact match, analogues excluded · per 1,000/month · LOESS on complete months · * = partial month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342900"/>
            <a:ext cx="10795000" cy="2159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A6D99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What the Lab Detects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Fentanyl Synthesis Impurities</a:t>
            </a:r>
          </a:p>
        </p:txBody>
      </p:sp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698500" y="1511300"/>
            <a:ext cx="10795000" cy="4584700"/>
          </a:xfrm>
          <a:prstGeom prst="rect">
            <a:avLst/>
          </a:prstGeom>
        </p:spPr>
      </p:pic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698500" y="6248400"/>
            <a:ext cx="10795000" cy="381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Flags from lab_detail regex '4-ANPP|phenethyl' (see lab_fentanyl_impurity) · per 1,000/month · LOESS on complete months · * = partial month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342900"/>
            <a:ext cx="10795000" cy="2159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A6D99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What the Lab Detects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Xylazine</a:t>
            </a:r>
          </a:p>
        </p:txBody>
      </p:sp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698500" y="1511300"/>
            <a:ext cx="10795000" cy="4584700"/>
          </a:xfrm>
          <a:prstGeom prst="rect">
            <a:avLst/>
          </a:prstGeom>
        </p:spPr>
      </p:pic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698500" y="6248400"/>
            <a:ext cx="10795000" cy="381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Series: lab_xylazine (primary) + trace-only (lab_xylazine_any − lab_xylazine) · per 1,000/month · LOESS on complete months · * = partial month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342900"/>
            <a:ext cx="10795000" cy="2159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A6D99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What the Lab Detects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Medetomidine</a:t>
            </a:r>
          </a:p>
        </p:txBody>
      </p:sp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698500" y="1511300"/>
            <a:ext cx="10795000" cy="4584700"/>
          </a:xfrm>
          <a:prstGeom prst="rect">
            <a:avLst/>
          </a:prstGeom>
        </p:spPr>
      </p:pic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698500" y="6248400"/>
            <a:ext cx="10795000" cy="381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Flags from lab_detail regex 'medetomidine' with abundance split · per 1,000/month · LOESS on complete months · * = partial month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342900"/>
            <a:ext cx="10795000" cy="2159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A6D99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What the Lab Detects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Methamphetamine</a:t>
            </a:r>
          </a:p>
        </p:txBody>
      </p:sp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698500" y="1511300"/>
            <a:ext cx="10795000" cy="4584700"/>
          </a:xfrm>
          <a:prstGeom prst="rect">
            <a:avLst/>
          </a:prstGeom>
        </p:spPr>
      </p:pic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698500" y="6248400"/>
            <a:ext cx="10795000" cy="381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Series: lab_meth (primary) + trace-only (lab_meth_any − lab_meth) · per 1,000/month · LOESS on complete months · * = partial month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342900"/>
            <a:ext cx="10795000" cy="2159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A6D99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What the Lab Detects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Cocaine</a:t>
            </a:r>
          </a:p>
        </p:txBody>
      </p:sp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698500" y="1511300"/>
            <a:ext cx="10795000" cy="4584700"/>
          </a:xfrm>
          <a:prstGeom prst="rect">
            <a:avLst/>
          </a:prstGeom>
        </p:spPr>
      </p:pic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698500" y="6248400"/>
            <a:ext cx="10795000" cy="381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Series: lab_cocaine (primary) + trace-only (lab_cocaine_any − lab_cocaine) · per 1,000/month · LOESS on complete months · * = partial month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342900"/>
            <a:ext cx="10795000" cy="2159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A6D99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What the Lab Detects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Levamisole</a:t>
            </a:r>
          </a:p>
        </p:txBody>
      </p:sp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698500" y="1511300"/>
            <a:ext cx="10795000" cy="4584700"/>
          </a:xfrm>
          <a:prstGeom prst="rect">
            <a:avLst/>
          </a:prstGeom>
        </p:spPr>
      </p:pic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698500" y="6248400"/>
            <a:ext cx="10795000" cy="381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lab_levamisole_any is the only derived flag — primary/trace split rebuilt from lab_detail abundance · per 1,000/month · LOESS on complete months · * = partial month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342900"/>
            <a:ext cx="10795000" cy="2159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A6D99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What the Lab Detects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Carfentanil</a:t>
            </a:r>
          </a:p>
        </p:txBody>
      </p:sp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698500" y="1511300"/>
            <a:ext cx="10795000" cy="4584700"/>
          </a:xfrm>
          <a:prstGeom prst="rect">
            <a:avLst/>
          </a:prstGeom>
        </p:spPr>
      </p:pic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698500" y="6248400"/>
            <a:ext cx="10795000" cy="381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Series: lab_carfentanil (primary) + trace-only (lab_carfentanil_any − lab_carfentanil) · per 1,000/month · LOESS on complete months · * = partial month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342900"/>
            <a:ext cx="10795000" cy="2159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A6D99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What the Lab Detects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Nitazenes</a:t>
            </a:r>
          </a:p>
        </p:txBody>
      </p:sp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698500" y="1511300"/>
            <a:ext cx="10795000" cy="4584700"/>
          </a:xfrm>
          <a:prstGeom prst="rect">
            <a:avLst/>
          </a:prstGeom>
        </p:spPr>
      </p:pic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698500" y="6248400"/>
            <a:ext cx="10795000" cy="381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Flags from lab_detail regex 'nitazene|etonitazene|metonitazene|protonitazene|isotonitazene' · per 1,000/month · LOESS on complete months · * = partial month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342900"/>
            <a:ext cx="10795000" cy="2159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A6D99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What the Lab Detects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BTMPS</a:t>
            </a:r>
          </a:p>
        </p:txBody>
      </p:sp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698500" y="1511300"/>
            <a:ext cx="10795000" cy="4584700"/>
          </a:xfrm>
          <a:prstGeom prst="rect">
            <a:avLst/>
          </a:prstGeom>
        </p:spPr>
      </p:pic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698500" y="6248400"/>
            <a:ext cx="10795000" cy="381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Flags from lab_detail regex 'BTMPS|bis(2,2,6,6…' · per 1,000/month · LOESS on complete months · * = partial month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342900"/>
            <a:ext cx="10795000" cy="2159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A6D99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Two-Year Trends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Key Metrics, Last 24 Months</a:t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698500" y="1511300"/>
            <a:ext cx="2603500" cy="1905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SAMPLES COMPLETED</a:t>
            </a:r>
          </a:p>
        </p:txBody>
      </p:sp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698500" y="1701800"/>
            <a:ext cx="2603500" cy="2921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167 / month</a:t>
            </a:r>
          </a:p>
        </p:txBody>
      </p:sp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698500" y="1993900"/>
            <a:ext cx="2603500" cy="960967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p:ph/>
          </p:nvPr>
        </p:nvSpPr>
        <p:spPr>
          <a:xfrm>
            <a:off x="3429000" y="1511300"/>
            <a:ext cx="2603500" cy="1905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FENTANYL (ANY)</a:t>
            </a:r>
          </a:p>
        </p:txBody>
      </p:sp>
      <p:sp>
        <p:nvSpPr>
          <p:cNvPr id="8" name=""/>
          <p:cNvSpPr>
            <a:spLocks noGrp="1"/>
          </p:cNvSpPr>
          <p:nvPr>
            <p:ph/>
          </p:nvPr>
        </p:nvSpPr>
        <p:spPr>
          <a:xfrm>
            <a:off x="3429000" y="1701800"/>
            <a:ext cx="2603500" cy="2921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665 per 1,000</a:t>
            </a:r>
          </a:p>
        </p:txBody>
      </p:sp>
      <p:pic>
        <p:nvPicPr>
          <p:cNvPr id="9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3429000" y="1993900"/>
            <a:ext cx="2603500" cy="960967"/>
          </a:xfrm>
          <a:prstGeom prst="rect">
            <a:avLst/>
          </a:prstGeom>
        </p:spPr>
      </p:pic>
      <p:sp>
        <p:nvSpPr>
          <p:cNvPr id="10" name=""/>
          <p:cNvSpPr>
            <a:spLocks noGrp="1"/>
          </p:cNvSpPr>
          <p:nvPr>
            <p:ph/>
          </p:nvPr>
        </p:nvSpPr>
        <p:spPr>
          <a:xfrm>
            <a:off x="6159500" y="1511300"/>
            <a:ext cx="2603500" cy="1905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FENTANYL IMPURITIES (ANY)</a:t>
            </a:r>
          </a:p>
        </p:txBody>
      </p:sp>
      <p:sp>
        <p:nvSpPr>
          <p:cNvPr id="11" name=""/>
          <p:cNvSpPr>
            <a:spLocks noGrp="1"/>
          </p:cNvSpPr>
          <p:nvPr>
            <p:ph/>
          </p:nvPr>
        </p:nvSpPr>
        <p:spPr>
          <a:xfrm>
            <a:off x="6159500" y="1701800"/>
            <a:ext cx="2603500" cy="2921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605 per 1,000</a:t>
            </a:r>
          </a:p>
        </p:txBody>
      </p:sp>
      <p:pic>
        <p:nvPicPr>
          <p:cNvPr id="12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6159500" y="1993900"/>
            <a:ext cx="2603500" cy="960967"/>
          </a:xfrm>
          <a:prstGeom prst="rect">
            <a:avLst/>
          </a:prstGeom>
        </p:spPr>
      </p:pic>
      <p:sp>
        <p:nvSpPr>
          <p:cNvPr id="13" name=""/>
          <p:cNvSpPr>
            <a:spLocks noGrp="1"/>
          </p:cNvSpPr>
          <p:nvPr>
            <p:ph/>
          </p:nvPr>
        </p:nvSpPr>
        <p:spPr>
          <a:xfrm>
            <a:off x="8890000" y="1511300"/>
            <a:ext cx="2603500" cy="1905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XYLAZINE (ANY)</a:t>
            </a:r>
          </a:p>
        </p:txBody>
      </p:sp>
      <p:sp>
        <p:nvSpPr>
          <p:cNvPr id="14" name=""/>
          <p:cNvSpPr>
            <a:spLocks noGrp="1"/>
          </p:cNvSpPr>
          <p:nvPr>
            <p:ph/>
          </p:nvPr>
        </p:nvSpPr>
        <p:spPr>
          <a:xfrm>
            <a:off x="8890000" y="1701800"/>
            <a:ext cx="2603500" cy="2921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60 per 1,000</a:t>
            </a:r>
          </a:p>
        </p:txBody>
      </p:sp>
      <p:pic>
        <p:nvPicPr>
          <p:cNvPr id="15" name="" descr=""/>
          <p:cNvPicPr>
            <a:picLocks noGrp="1"/>
          </p:cNvPicPr>
          <p:nvPr>
            <p:ph/>
          </p:nvPr>
        </p:nvPicPr>
        <p:blipFill>
          <a:blip r:embed="rId5"/>
          <a:stretch>
            <a:fillRect/>
          </a:stretch>
        </p:blipFill>
        <p:spPr>
          <a:xfrm>
            <a:off x="8890000" y="1993900"/>
            <a:ext cx="2603500" cy="960967"/>
          </a:xfrm>
          <a:prstGeom prst="rect">
            <a:avLst/>
          </a:prstGeom>
        </p:spPr>
      </p:pic>
      <p:sp>
        <p:nvSpPr>
          <p:cNvPr id="16" name=""/>
          <p:cNvSpPr>
            <a:spLocks noGrp="1"/>
          </p:cNvSpPr>
          <p:nvPr>
            <p:ph/>
          </p:nvPr>
        </p:nvSpPr>
        <p:spPr>
          <a:xfrm>
            <a:off x="698500" y="3081867"/>
            <a:ext cx="2603500" cy="1905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MEDETOMIDINE (ANY)</a:t>
            </a:r>
          </a:p>
        </p:txBody>
      </p:sp>
      <p:sp>
        <p:nvSpPr>
          <p:cNvPr id="17" name=""/>
          <p:cNvSpPr>
            <a:spLocks noGrp="1"/>
          </p:cNvSpPr>
          <p:nvPr>
            <p:ph/>
          </p:nvPr>
        </p:nvSpPr>
        <p:spPr>
          <a:xfrm>
            <a:off x="698500" y="3272367"/>
            <a:ext cx="2603500" cy="2921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90 per 1,000</a:t>
            </a:r>
          </a:p>
        </p:txBody>
      </p:sp>
      <p:pic>
        <p:nvPicPr>
          <p:cNvPr id="18" name="" descr=""/>
          <p:cNvPicPr>
            <a:picLocks noGrp="1"/>
          </p:cNvPicPr>
          <p:nvPr>
            <p:ph/>
          </p:nvPr>
        </p:nvPicPr>
        <p:blipFill>
          <a:blip r:embed="rId6"/>
          <a:stretch>
            <a:fillRect/>
          </a:stretch>
        </p:blipFill>
        <p:spPr>
          <a:xfrm>
            <a:off x="698500" y="3564467"/>
            <a:ext cx="2603500" cy="960967"/>
          </a:xfrm>
          <a:prstGeom prst="rect">
            <a:avLst/>
          </a:prstGeom>
        </p:spPr>
      </p:pic>
      <p:sp>
        <p:nvSpPr>
          <p:cNvPr id="19" name=""/>
          <p:cNvSpPr>
            <a:spLocks noGrp="1"/>
          </p:cNvSpPr>
          <p:nvPr>
            <p:ph/>
          </p:nvPr>
        </p:nvSpPr>
        <p:spPr>
          <a:xfrm>
            <a:off x="3429000" y="3081867"/>
            <a:ext cx="2603500" cy="1905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METHAMPHETAMINE (ANY)</a:t>
            </a:r>
          </a:p>
        </p:txBody>
      </p:sp>
      <p:sp>
        <p:nvSpPr>
          <p:cNvPr id="20" name=""/>
          <p:cNvSpPr>
            <a:spLocks noGrp="1"/>
          </p:cNvSpPr>
          <p:nvPr>
            <p:ph/>
          </p:nvPr>
        </p:nvSpPr>
        <p:spPr>
          <a:xfrm>
            <a:off x="3429000" y="3272367"/>
            <a:ext cx="2603500" cy="2921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287 per 1,000</a:t>
            </a:r>
          </a:p>
        </p:txBody>
      </p:sp>
      <p:pic>
        <p:nvPicPr>
          <p:cNvPr id="21" name="" descr=""/>
          <p:cNvPicPr>
            <a:picLocks noGrp="1"/>
          </p:cNvPicPr>
          <p:nvPr>
            <p:ph/>
          </p:nvPr>
        </p:nvPicPr>
        <p:blipFill>
          <a:blip r:embed="rId7"/>
          <a:stretch>
            <a:fillRect/>
          </a:stretch>
        </p:blipFill>
        <p:spPr>
          <a:xfrm>
            <a:off x="3429000" y="3564467"/>
            <a:ext cx="2603500" cy="960967"/>
          </a:xfrm>
          <a:prstGeom prst="rect">
            <a:avLst/>
          </a:prstGeom>
        </p:spPr>
      </p:pic>
      <p:sp>
        <p:nvSpPr>
          <p:cNvPr id="22" name=""/>
          <p:cNvSpPr>
            <a:spLocks noGrp="1"/>
          </p:cNvSpPr>
          <p:nvPr>
            <p:ph/>
          </p:nvPr>
        </p:nvSpPr>
        <p:spPr>
          <a:xfrm>
            <a:off x="6159500" y="3081867"/>
            <a:ext cx="2603500" cy="1905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COCAINE (ANY)</a:t>
            </a:r>
          </a:p>
        </p:txBody>
      </p:sp>
      <p:sp>
        <p:nvSpPr>
          <p:cNvPr id="23" name=""/>
          <p:cNvSpPr>
            <a:spLocks noGrp="1"/>
          </p:cNvSpPr>
          <p:nvPr>
            <p:ph/>
          </p:nvPr>
        </p:nvSpPr>
        <p:spPr>
          <a:xfrm>
            <a:off x="6159500" y="3272367"/>
            <a:ext cx="2603500" cy="2921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102 per 1,000</a:t>
            </a:r>
          </a:p>
        </p:txBody>
      </p:sp>
      <p:pic>
        <p:nvPicPr>
          <p:cNvPr id="24" name="" descr=""/>
          <p:cNvPicPr>
            <a:picLocks noGrp="1"/>
          </p:cNvPicPr>
          <p:nvPr>
            <p:ph/>
          </p:nvPr>
        </p:nvPicPr>
        <p:blipFill>
          <a:blip r:embed="rId8"/>
          <a:stretch>
            <a:fillRect/>
          </a:stretch>
        </p:blipFill>
        <p:spPr>
          <a:xfrm>
            <a:off x="6159500" y="3564467"/>
            <a:ext cx="2603500" cy="960967"/>
          </a:xfrm>
          <a:prstGeom prst="rect">
            <a:avLst/>
          </a:prstGeom>
        </p:spPr>
      </p:pic>
      <p:sp>
        <p:nvSpPr>
          <p:cNvPr id="25" name=""/>
          <p:cNvSpPr>
            <a:spLocks noGrp="1"/>
          </p:cNvSpPr>
          <p:nvPr>
            <p:ph/>
          </p:nvPr>
        </p:nvSpPr>
        <p:spPr>
          <a:xfrm>
            <a:off x="8890000" y="3081867"/>
            <a:ext cx="2603500" cy="1905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LEVAMISOLE (ANY)</a:t>
            </a:r>
          </a:p>
        </p:txBody>
      </p:sp>
      <p:sp>
        <p:nvSpPr>
          <p:cNvPr id="26" name=""/>
          <p:cNvSpPr>
            <a:spLocks noGrp="1"/>
          </p:cNvSpPr>
          <p:nvPr>
            <p:ph/>
          </p:nvPr>
        </p:nvSpPr>
        <p:spPr>
          <a:xfrm>
            <a:off x="8890000" y="3272367"/>
            <a:ext cx="2603500" cy="2921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0 per 1,000</a:t>
            </a:r>
          </a:p>
        </p:txBody>
      </p:sp>
      <p:pic>
        <p:nvPicPr>
          <p:cNvPr id="27" name="" descr=""/>
          <p:cNvPicPr>
            <a:picLocks noGrp="1"/>
          </p:cNvPicPr>
          <p:nvPr>
            <p:ph/>
          </p:nvPr>
        </p:nvPicPr>
        <p:blipFill>
          <a:blip r:embed="rId9"/>
          <a:stretch>
            <a:fillRect/>
          </a:stretch>
        </p:blipFill>
        <p:spPr>
          <a:xfrm>
            <a:off x="8890000" y="3564467"/>
            <a:ext cx="2603500" cy="960967"/>
          </a:xfrm>
          <a:prstGeom prst="rect">
            <a:avLst/>
          </a:prstGeom>
        </p:spPr>
      </p:pic>
      <p:sp>
        <p:nvSpPr>
          <p:cNvPr id="28" name=""/>
          <p:cNvSpPr>
            <a:spLocks noGrp="1"/>
          </p:cNvSpPr>
          <p:nvPr>
            <p:ph/>
          </p:nvPr>
        </p:nvSpPr>
        <p:spPr>
          <a:xfrm>
            <a:off x="698500" y="4652433"/>
            <a:ext cx="2603500" cy="1905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CARFENTANIL (ANY)</a:t>
            </a:r>
          </a:p>
        </p:txBody>
      </p:sp>
      <p:sp>
        <p:nvSpPr>
          <p:cNvPr id="29" name=""/>
          <p:cNvSpPr>
            <a:spLocks noGrp="1"/>
          </p:cNvSpPr>
          <p:nvPr>
            <p:ph/>
          </p:nvPr>
        </p:nvSpPr>
        <p:spPr>
          <a:xfrm>
            <a:off x="698500" y="4842933"/>
            <a:ext cx="2603500" cy="2921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0 per 1,000</a:t>
            </a:r>
          </a:p>
        </p:txBody>
      </p:sp>
      <p:pic>
        <p:nvPicPr>
          <p:cNvPr id="30" name="" descr=""/>
          <p:cNvPicPr>
            <a:picLocks noGrp="1"/>
          </p:cNvPicPr>
          <p:nvPr>
            <p:ph/>
          </p:nvPr>
        </p:nvPicPr>
        <p:blipFill>
          <a:blip r:embed="rId10"/>
          <a:stretch>
            <a:fillRect/>
          </a:stretch>
        </p:blipFill>
        <p:spPr>
          <a:xfrm>
            <a:off x="698500" y="5135033"/>
            <a:ext cx="2603500" cy="960967"/>
          </a:xfrm>
          <a:prstGeom prst="rect">
            <a:avLst/>
          </a:prstGeom>
        </p:spPr>
      </p:pic>
      <p:sp>
        <p:nvSpPr>
          <p:cNvPr id="31" name=""/>
          <p:cNvSpPr>
            <a:spLocks noGrp="1"/>
          </p:cNvSpPr>
          <p:nvPr>
            <p:ph/>
          </p:nvPr>
        </p:nvSpPr>
        <p:spPr>
          <a:xfrm>
            <a:off x="3429000" y="4652433"/>
            <a:ext cx="2603500" cy="1905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NITAZENES (ANY)</a:t>
            </a:r>
          </a:p>
        </p:txBody>
      </p:sp>
      <p:sp>
        <p:nvSpPr>
          <p:cNvPr id="32" name=""/>
          <p:cNvSpPr>
            <a:spLocks noGrp="1"/>
          </p:cNvSpPr>
          <p:nvPr>
            <p:ph/>
          </p:nvPr>
        </p:nvSpPr>
        <p:spPr>
          <a:xfrm>
            <a:off x="3429000" y="4842933"/>
            <a:ext cx="2603500" cy="2921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0 per 1,000</a:t>
            </a:r>
          </a:p>
        </p:txBody>
      </p:sp>
      <p:pic>
        <p:nvPicPr>
          <p:cNvPr id="33" name="" descr=""/>
          <p:cNvPicPr>
            <a:picLocks noGrp="1"/>
          </p:cNvPicPr>
          <p:nvPr>
            <p:ph/>
          </p:nvPr>
        </p:nvPicPr>
        <p:blipFill>
          <a:blip r:embed="rId11"/>
          <a:stretch>
            <a:fillRect/>
          </a:stretch>
        </p:blipFill>
        <p:spPr>
          <a:xfrm>
            <a:off x="3429000" y="5135033"/>
            <a:ext cx="2603500" cy="960967"/>
          </a:xfrm>
          <a:prstGeom prst="rect">
            <a:avLst/>
          </a:prstGeom>
        </p:spPr>
      </p:pic>
      <p:sp>
        <p:nvSpPr>
          <p:cNvPr id="34" name=""/>
          <p:cNvSpPr>
            <a:spLocks noGrp="1"/>
          </p:cNvSpPr>
          <p:nvPr>
            <p:ph/>
          </p:nvPr>
        </p:nvSpPr>
        <p:spPr>
          <a:xfrm>
            <a:off x="6159500" y="4652433"/>
            <a:ext cx="2603500" cy="1905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BTMPS (ANY)</a:t>
            </a:r>
          </a:p>
        </p:txBody>
      </p:sp>
      <p:sp>
        <p:nvSpPr>
          <p:cNvPr id="35" name=""/>
          <p:cNvSpPr>
            <a:spLocks noGrp="1"/>
          </p:cNvSpPr>
          <p:nvPr>
            <p:ph/>
          </p:nvPr>
        </p:nvSpPr>
        <p:spPr>
          <a:xfrm>
            <a:off x="6159500" y="4842933"/>
            <a:ext cx="2603500" cy="2921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18 per 1,000</a:t>
            </a:r>
          </a:p>
        </p:txBody>
      </p:sp>
      <p:pic>
        <p:nvPicPr>
          <p:cNvPr id="36" name="" descr=""/>
          <p:cNvPicPr>
            <a:picLocks noGrp="1"/>
          </p:cNvPicPr>
          <p:nvPr>
            <p:ph/>
          </p:nvPr>
        </p:nvPicPr>
        <p:blipFill>
          <a:blip r:embed="rId12"/>
          <a:stretch>
            <a:fillRect/>
          </a:stretch>
        </p:blipFill>
        <p:spPr>
          <a:xfrm>
            <a:off x="6159500" y="5135033"/>
            <a:ext cx="2603500" cy="960967"/>
          </a:xfrm>
          <a:prstGeom prst="rect">
            <a:avLst/>
          </a:prstGeom>
        </p:spPr>
      </p:pic>
      <p:sp>
        <p:nvSpPr>
          <p:cNvPr id="37" name=""/>
          <p:cNvSpPr>
            <a:spLocks noGrp="1"/>
          </p:cNvSpPr>
          <p:nvPr>
            <p:ph/>
          </p:nvPr>
        </p:nvSpPr>
        <p:spPr>
          <a:xfrm>
            <a:off x="8890000" y="4652433"/>
            <a:ext cx="2603500" cy="1905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OVERDOSE-INVOLVED</a:t>
            </a:r>
          </a:p>
        </p:txBody>
      </p:sp>
      <p:sp>
        <p:nvSpPr>
          <p:cNvPr id="38" name=""/>
          <p:cNvSpPr>
            <a:spLocks noGrp="1"/>
          </p:cNvSpPr>
          <p:nvPr>
            <p:ph/>
          </p:nvPr>
        </p:nvSpPr>
        <p:spPr>
          <a:xfrm>
            <a:off x="8890000" y="4842933"/>
            <a:ext cx="2603500" cy="2921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50 per 1,000</a:t>
            </a:r>
          </a:p>
        </p:txBody>
      </p:sp>
      <p:pic>
        <p:nvPicPr>
          <p:cNvPr id="39" name="" descr=""/>
          <p:cNvPicPr>
            <a:picLocks noGrp="1"/>
          </p:cNvPicPr>
          <p:nvPr>
            <p:ph/>
          </p:nvPr>
        </p:nvPicPr>
        <p:blipFill>
          <a:blip r:embed="rId13"/>
          <a:stretch>
            <a:fillRect/>
          </a:stretch>
        </p:blipFill>
        <p:spPr>
          <a:xfrm>
            <a:off x="8890000" y="5135033"/>
            <a:ext cx="2603500" cy="960967"/>
          </a:xfrm>
          <a:prstGeom prst="rect">
            <a:avLst/>
          </a:prstGeom>
        </p:spPr>
      </p:pic>
      <p:sp>
        <p:nvSpPr>
          <p:cNvPr id="40" name=""/>
          <p:cNvSpPr>
            <a:spLocks noGrp="1"/>
          </p:cNvSpPr>
          <p:nvPr>
            <p:ph/>
          </p:nvPr>
        </p:nvSpPr>
        <p:spPr>
          <a:xfrm>
            <a:off x="698500" y="6248400"/>
            <a:ext cx="10795000" cy="381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Monthly values, trailing 24 months from run date · line = LOESS on complete months · Δ = last complete month vs prior · green = favorable direction · orange point* = partial month · data table: Appendix A4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342900"/>
            <a:ext cx="10795000" cy="2159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A6D99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What the Lab Detects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Opioid–Stimulant Overlap</a:t>
            </a:r>
          </a:p>
        </p:txBody>
      </p:sp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698500" y="1511300"/>
            <a:ext cx="10795000" cy="4584700"/>
          </a:xfrm>
          <a:prstGeom prst="rect">
            <a:avLst/>
          </a:prstGeom>
        </p:spPr>
      </p:pic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698500" y="6248400"/>
            <a:ext cx="10795000" cy="381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lab_fentanyl_any = 1 per 1,000 samples where lab_meth = 1 (or lab_cocaine = 1) that quarter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The State View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Fentanyl-Positive Samples, UNC Street Drug Analysis Lab (Drug Checking) Data: {{STAT:latest_month}}*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698500" y="1511300"/>
            <a:ext cx="5270500" cy="4584700"/>
          </a:xfrm>
          <a:prstGeom prst="rect">
            <a:avLst/>
          </a:prstGeom>
        </p:spPr>
      </p:pic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6223000" y="1511300"/>
            <a:ext cx="5270500" cy="45847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Xylazine-Positive Samples, UNC Street Drug Analysis Lab (Drug Checking) Data: {{STAT:latest_month}}*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698500" y="1511300"/>
            <a:ext cx="5270500" cy="4584700"/>
          </a:xfrm>
          <a:prstGeom prst="rect">
            <a:avLst/>
          </a:prstGeom>
        </p:spPr>
      </p:pic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6223000" y="1511300"/>
            <a:ext cx="5270500" cy="45847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Methamphetamine-Positive Samples, UNC Street Drug Analysis Lab (Drug Checking) Data: {{STAT:latest_month}}*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698500" y="1511300"/>
            <a:ext cx="5270500" cy="4584700"/>
          </a:xfrm>
          <a:prstGeom prst="rect">
            <a:avLst/>
          </a:prstGeom>
        </p:spPr>
      </p:pic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6223000" y="1511300"/>
            <a:ext cx="5270500" cy="45847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Cocaine-Positive Samples, UNC Street Drug Analysis Lab (Drug Checking) Data: {{STAT:latest_month}}*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698500" y="1511300"/>
            <a:ext cx="5270500" cy="4584700"/>
          </a:xfrm>
          <a:prstGeom prst="rect">
            <a:avLst/>
          </a:prstGeom>
        </p:spPr>
      </p:pic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6223000" y="1511300"/>
            <a:ext cx="5270500" cy="45847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Regional Maps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Fentanyl by Region, UNC Street Drug Analysis Lab (Drug Checking) Data: {{STAT:latest_q}}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698500" y="1511300"/>
            <a:ext cx="5270500" cy="4584700"/>
          </a:xfrm>
          <a:prstGeom prst="rect">
            <a:avLst/>
          </a:prstGeom>
        </p:spPr>
      </p:pic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6223000" y="1511300"/>
            <a:ext cx="5270500" cy="4584700"/>
          </a:xfrm>
          <a:prstGeom prst="rect">
            <a:avLst/>
          </a:prstGeom>
        </p:spPr>
      </p:pic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698500" y="6248400"/>
            <a:ext cx="10795000" cy="381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Fentanyl-positive (any abundance) per 1,000 samples completed in the region, {{STAT:latest_q}}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Xylazine by Region, UNC Street Drug Analysis Lab (Drug Checking) Data: {{STAT:latest_q}}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698500" y="1511300"/>
            <a:ext cx="5270500" cy="4584700"/>
          </a:xfrm>
          <a:prstGeom prst="rect">
            <a:avLst/>
          </a:prstGeom>
        </p:spPr>
      </p:pic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6223000" y="1511300"/>
            <a:ext cx="5270500" cy="4584700"/>
          </a:xfrm>
          <a:prstGeom prst="rect">
            <a:avLst/>
          </a:prstGeom>
        </p:spPr>
      </p:pic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698500" y="6248400"/>
            <a:ext cx="10795000" cy="381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Xylazine-positive (any abundance) per 1,000 samples completed in the region, {{STAT:latest_q}}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Methamphetamine by Region, UNC Street Drug Analysis Lab (Drug Checking) Data: {{STAT:latest_q}}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698500" y="1511300"/>
            <a:ext cx="5270500" cy="4584700"/>
          </a:xfrm>
          <a:prstGeom prst="rect">
            <a:avLst/>
          </a:prstGeom>
        </p:spPr>
      </p:pic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6223000" y="1511300"/>
            <a:ext cx="5270500" cy="4584700"/>
          </a:xfrm>
          <a:prstGeom prst="rect">
            <a:avLst/>
          </a:prstGeom>
        </p:spPr>
      </p:pic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698500" y="6248400"/>
            <a:ext cx="10795000" cy="381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Methamphetamine-positive (any abundance) per 1,000 samples completed in the region, {{STAT:latest_q}}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Cocaine by Region, UNC Street Drug Analysis Lab (Drug Checking) Data: {{STAT:latest_q}}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698500" y="1511300"/>
            <a:ext cx="5270500" cy="4584700"/>
          </a:xfrm>
          <a:prstGeom prst="rect">
            <a:avLst/>
          </a:prstGeom>
        </p:spPr>
      </p:pic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6223000" y="1511300"/>
            <a:ext cx="5270500" cy="4584700"/>
          </a:xfrm>
          <a:prstGeom prst="rect">
            <a:avLst/>
          </a:prstGeom>
        </p:spPr>
      </p:pic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698500" y="6248400"/>
            <a:ext cx="10795000" cy="381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Cocaine-positive (any abundance) per 1,000 samples completed in the region, {{STAT:latest_q}}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New Detections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342900"/>
            <a:ext cx="10795000" cy="2159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A6D99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New Detections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New to North Carolina: Last Three Months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698500" y="1511300"/>
          <a:ext cx="10795000" cy="4584700"/>
        </p:xfrm>
        <a:graphic>
          <a:graphicData uri="http://schemas.openxmlformats.org/drawingml/2006/table">
            <a:tbl>
              <a:tblPr/>
              <a:tblGrid>
                <a:gridCol w="2462983"/>
                <a:gridCol w="1237011"/>
                <a:gridCol w="1218929"/>
                <a:gridCol w="1186187"/>
                <a:gridCol w="896865"/>
              </a:tblGrid>
              <a:tr h="42037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13294B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Substance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13294B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First seen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13294B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Abundance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13294B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Detections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13294B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Sample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delorazepam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11 Aug 2026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primary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605335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misoprostol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06 Aug 2026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primary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816799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sucrose octaacetate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30 Jul 2026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primary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816795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aminopyrine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28 Jul 2026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primary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605808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antipyrine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28 Jul 2026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primary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605809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N-(2-phenylethyl)aniline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17 Jul 2026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primary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900889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fentanyl methylene homolog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16 Jul 2026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trace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900796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retatrutide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13 Jul 2026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primary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603217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MDMB-4en-PINACA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10 Jul 2026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primary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605414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triacetin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25 Jun 2026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primary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18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900817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2-fluoro-2-oxo-PCPr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16 Jun 2026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primary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603838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1084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2-oxo-PCE (O-PCE)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16 Jun 2026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primary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603838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698500" y="6248400"/>
            <a:ext cx="10795000" cy="381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Definition: min(date_complete) per substance in NC falls within the last 91 days · linked to the public sample record · data table: Appendix A5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342900"/>
            <a:ext cx="10795000" cy="2159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A6D99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New Detections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Emerging Substance Watchlist</a:t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698500" y="6248400"/>
            <a:ext cx="10795000" cy="381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Curated by lab staff — the one slide reviewed by a human rather than regenerated nightly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Fine Print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342900"/>
            <a:ext cx="10795000" cy="2159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A6D99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Fine Print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Data Caveats</a:t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698500" y="6248400"/>
            <a:ext cx="10795000" cy="381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Full methods and variable notes: technical_details.md + codebook in the opioiddatalab/drugchecking repository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342900"/>
            <a:ext cx="10795000" cy="2159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A6D99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Fine Print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Variable Reference</a:t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698500" y="6248400"/>
            <a:ext cx="10795000" cy="381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Full codebook (96 variables): github.com/opioiddatalab/drugchecking → datasets/unc_druchecking_codebook.txt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342900"/>
            <a:ext cx="10795000" cy="2159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A6D99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Fine Print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Data Access</a:t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698500" y="6248400"/>
            <a:ext cx="10795000" cy="381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Questions about access or additional chemical classifications: contact the lab via opioiddata.org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Data Tables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342900"/>
            <a:ext cx="10795000" cy="2159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A6D99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Appendix — Data Tables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A1 · Samples Completed by Quarter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698500" y="1511300"/>
          <a:ext cx="10795000" cy="4584700"/>
        </p:xfrm>
        <a:graphic>
          <a:graphicData uri="http://schemas.openxmlformats.org/drawingml/2006/table">
            <a:tbl>
              <a:tblPr/>
              <a:tblGrid>
                <a:gridCol w="928193"/>
                <a:gridCol w="1627016"/>
                <a:gridCol w="972618"/>
              </a:tblGrid>
              <a:tr h="42037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13294B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Quarter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13294B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Unique samples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13294B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Status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2022Q1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92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complete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2022Q2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32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complete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2022Q3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158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complete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2022Q4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106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complete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2023Q1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131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complete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2023Q2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128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complete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2023Q3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146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complete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2023Q4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70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complete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2024Q1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105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complete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2024Q2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132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complete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2024Q3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196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complete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1084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2024Q4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78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complete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698500" y="6248400"/>
            <a:ext cx="10795000" cy="381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Chart: slide 11 · unique sampleid by calendar quarter of date_complete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342900"/>
            <a:ext cx="10795000" cy="2159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A6D99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Appendix — Data Tables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A2 · Expected Substances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698500" y="1511300"/>
          <a:ext cx="10795000" cy="4584700"/>
        </p:xfrm>
        <a:graphic>
          <a:graphicData uri="http://schemas.openxmlformats.org/drawingml/2006/table">
            <a:tbl>
              <a:tblPr/>
              <a:tblGrid>
                <a:gridCol w="2445719"/>
                <a:gridCol w="987575"/>
              </a:tblGrid>
              <a:tr h="42037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13294B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Expected substance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13294B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Samples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fentanyl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1,412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methamphetamine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428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heroin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302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xylazine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252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unknown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157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cocaine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94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MDMA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79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fentanyl, xylazine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57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benzodiazepine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55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ketamine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50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fentanyl, methamphetamine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49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1084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crack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30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698500" y="6248400"/>
            <a:ext cx="10795000" cy="381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Chart: slide 14 · expectedsubstance, semicolon lists split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342900"/>
            <a:ext cx="10795000" cy="2159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A6D99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Appendix — Data Tables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A3 · Expectation vs. Lab Result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698500" y="1511300"/>
          <a:ext cx="10795000" cy="4584700"/>
        </p:xfrm>
        <a:graphic>
          <a:graphicData uri="http://schemas.openxmlformats.org/drawingml/2006/table">
            <a:tbl>
              <a:tblPr/>
              <a:tblGrid>
                <a:gridCol w="2482033"/>
                <a:gridCol w="987575"/>
                <a:gridCol w="2649911"/>
                <a:gridCol w="2121795"/>
              </a:tblGrid>
              <a:tr h="42037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13294B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Expectation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13294B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Samples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13294B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Confirmed (any abundance)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13294B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Variable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Expected fentanyl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1,620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87%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lab_fentanyl_any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Expected methamphetamine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491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90%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lab_meth_any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Expected cocaine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139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89%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lab_cocaine_any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Expected benzodiazepine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68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59%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lab_benzodiazepine_any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</a:tr>
              <a:tr h="41084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Expected xylazine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358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52%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lab_xylazine_any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698500" y="6248400"/>
            <a:ext cx="10795000" cy="381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Chart: slide 15 · numerator lab_*_any among samples with expect_* = 1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342900"/>
            <a:ext cx="10795000" cy="2159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A6D99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Appendix — Data Tables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A4 · Key Substance Rates, Latest Complete Month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698500" y="1511300"/>
          <a:ext cx="5219700" cy="4584700"/>
        </p:xfrm>
        <a:graphic>
          <a:graphicData uri="http://schemas.openxmlformats.org/drawingml/2006/table">
            <a:tbl>
              <a:tblPr/>
              <a:tblGrid>
                <a:gridCol w="2181400"/>
                <a:gridCol w="1846909"/>
                <a:gridCol w="904901"/>
              </a:tblGrid>
              <a:tr h="42037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13294B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Metric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13294B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Per 1,000 samples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13294B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Change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Samples completed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167 / month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+53%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Fentanyl (any)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665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+5%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Fentanyl impurities (any)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605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+1%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Xylazine (any)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60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-7%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Medetomidine (any)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90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+40%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1084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Methamphetamine (any)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287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-22%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"/>
          <p:cNvGraphicFramePr>
            <a:graphicFrameLocks noGrp="true"/>
          </p:cNvGraphicFramePr>
          <p:nvPr/>
        </p:nvGraphicFramePr>
        <p:xfrm rot="0">
          <a:off x="6273800" y="1511300"/>
          <a:ext cx="5219700" cy="4584700"/>
        </p:xfrm>
        <a:graphic>
          <a:graphicData uri="http://schemas.openxmlformats.org/drawingml/2006/table">
            <a:tbl>
              <a:tblPr/>
              <a:tblGrid>
                <a:gridCol w="1690863"/>
                <a:gridCol w="1846909"/>
                <a:gridCol w="904901"/>
              </a:tblGrid>
              <a:tr h="42037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13294B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Metric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13294B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Per 1,000 samples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13294B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Change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Cocaine (any)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102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+59%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Levamisole (any)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-100%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Carfentanil (any)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n/a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Nitazenes (any)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n/a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BTMPS (any)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18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-35%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1084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Overdose-involved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50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-58%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"/>
          <p:cNvSpPr>
            <a:spLocks noGrp="1"/>
          </p:cNvSpPr>
          <p:nvPr>
            <p:ph/>
          </p:nvPr>
        </p:nvSpPr>
        <p:spPr>
          <a:xfrm>
            <a:off x="698500" y="6248400"/>
            <a:ext cx="10795000" cy="381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Chart: slide 37 · rate = per 1,000 unique samples completed in the latest complete month (453 samples)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98500" y="342900"/>
            <a:ext cx="10795000" cy="2159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A6D99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Appendix — Data Tables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698500" y="558800"/>
            <a:ext cx="10795000" cy="609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13294B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A5 · New to North Carolina, Last Three Months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698500" y="1511300"/>
          <a:ext cx="10795000" cy="4584700"/>
        </p:xfrm>
        <a:graphic>
          <a:graphicData uri="http://schemas.openxmlformats.org/drawingml/2006/table">
            <a:tbl>
              <a:tblPr/>
              <a:tblGrid>
                <a:gridCol w="2462983"/>
                <a:gridCol w="1237011"/>
                <a:gridCol w="1218929"/>
                <a:gridCol w="1186187"/>
                <a:gridCol w="896865"/>
              </a:tblGrid>
              <a:tr h="42037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13294B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Substance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13294B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First seen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13294B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Abundance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13294B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Detections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13294B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Sample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delorazepam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11 Aug 2026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primary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605335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misoprostol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06 Aug 2026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primary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816799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sucrose octaacetate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30 Jul 2026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primary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816795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aminopyrine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28 Jul 2026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primary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605808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antipyrine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28 Jul 2026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primary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605809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N-(2-phenylethyl)aniline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17 Jul 2026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primary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900889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fentanyl methylene homolog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16 Jul 2026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trace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900796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retatrutide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13 Jul 2026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primary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603217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MDMB-4en-PINACA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10 Jul 2026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primary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605414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triacetin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25 Jun 2026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primary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18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900817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2-fluoro-2-oxo-PCPr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16 Jun 2026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primary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603838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1084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2-oxo-PCE (O-PCE)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16 Jun 2026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primary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5B6770">
                              <a:alpha val="100000"/>
                            </a:srgbClr>
                          </a:solidFill>
                          <a:latin typeface="Helvetica Neue"/>
                          <a:cs typeface="Helvetica Neue"/>
                          <a:ea typeface="Helvetica Neue"/>
                          <a:sym typeface="Helvetica Neue"/>
                        </a:rPr>
                        <a:t>603838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4F8FB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698500" y="6248400"/>
            <a:ext cx="10795000" cy="381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667180">
                    <a:alpha val="100000"/>
                  </a:srgbClr>
                </a:solidFill>
                <a:latin typeface="Helvetica Neue"/>
                <a:cs typeface="Helvetica Neue"/>
                <a:ea typeface="Helvetica Neue"/>
                <a:sym typeface="Helvetica Neue"/>
              </a:rPr>
              <a:t>Chart: slide 50 · min(date_complete) per substance within the last 91 days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runner</cp:lastModifiedBy>
  <cp:revision>3</cp:revision>
  <dcterms:created xsi:type="dcterms:W3CDTF">2017-02-13T16:18:36Z</dcterms:created>
  <dcterms:modified xsi:type="dcterms:W3CDTF">2026-08-26T16:48:31Z</dcterms:modified>
  <cp:category/>
</cp:coreProperties>
</file>